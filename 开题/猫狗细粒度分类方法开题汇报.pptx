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4" r:id="rId8"/>
    <p:sldId id="265" r:id="rId9"/>
    <p:sldId id="262" r:id="rId10"/>
    <p:sldId id="263"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p:restoredTop sz="94610"/>
  </p:normalViewPr>
  <p:slideViewPr>
    <p:cSldViewPr snapToGrid="0" snapToObjects="1">
      <p:cViewPr varScale="1">
        <p:scale>
          <a:sx n="152" d="100"/>
          <a:sy n="152" d="100"/>
        </p:scale>
        <p:origin x="4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0685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E055-28C1-0F45-3C3E-C5382EE1C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4686F-B8BD-E28F-BE67-17F4016A7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7DEC0-098C-BCD0-A4EE-3A8E03A7D5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999309-C716-FD20-6D9D-E75D410A0A7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67838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DCCA9-23A2-ECA8-51A4-43A7A8352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00C8E-CBDC-B7DA-568D-DF9799CBC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17CFD-E584-EABF-E5F5-BE79F4DE66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7F5429-DF46-F1A4-359B-18A55CF0877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81154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143000" y="1354020"/>
            <a:ext cx="7143750" cy="1005818"/>
          </a:xfrm>
          <a:prstGeom prst="rect">
            <a:avLst/>
          </a:prstGeom>
          <a:noFill/>
          <a:ln/>
        </p:spPr>
        <p:txBody>
          <a:bodyPr wrap="square" lIns="0" tIns="0" rIns="0" bIns="0" rtlCol="0" anchor="t">
            <a:spAutoFit/>
          </a:bodyPr>
          <a:lstStyle/>
          <a:p>
            <a:pPr marL="0" indent="0" algn="l">
              <a:lnSpc>
                <a:spcPts val="4000"/>
              </a:lnSpc>
              <a:buNone/>
            </a:pPr>
            <a:r>
              <a:rPr lang="en-US" sz="3294" b="1" kern="0" spc="-1" dirty="0">
                <a:solidFill>
                  <a:srgbClr val="1A1A1A"/>
                </a:solidFill>
              </a:rPr>
              <a:t>基于提示词优化的
细粒度猫狗分类方法研究</a:t>
            </a:r>
            <a:endParaRPr lang="en-US" sz="3294" dirty="0"/>
          </a:p>
        </p:txBody>
      </p:sp>
      <p:sp>
        <p:nvSpPr>
          <p:cNvPr id="4" name="Text 1"/>
          <p:cNvSpPr/>
          <p:nvPr/>
        </p:nvSpPr>
        <p:spPr>
          <a:xfrm>
            <a:off x="1143000" y="2502712"/>
            <a:ext cx="7143750" cy="332184"/>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4500"/>
                </a:solidFill>
              </a:rPr>
              <a:t>开题报告汇报</a:t>
            </a:r>
            <a:endParaRPr lang="en-US" sz="1602" dirty="0"/>
          </a:p>
        </p:txBody>
      </p:sp>
      <p:sp>
        <p:nvSpPr>
          <p:cNvPr id="5" name="Text 2"/>
          <p:cNvSpPr/>
          <p:nvPr/>
        </p:nvSpPr>
        <p:spPr>
          <a:xfrm>
            <a:off x="1143000" y="3134934"/>
            <a:ext cx="3500438" cy="14466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rPr>
              <a:t>汇报人</a:t>
            </a:r>
            <a:endParaRPr lang="en-US" sz="683" dirty="0"/>
          </a:p>
        </p:txBody>
      </p:sp>
      <p:sp>
        <p:nvSpPr>
          <p:cNvPr id="6" name="Text 3"/>
          <p:cNvSpPr/>
          <p:nvPr/>
        </p:nvSpPr>
        <p:spPr>
          <a:xfrm>
            <a:off x="1143000" y="3336745"/>
            <a:ext cx="3500438"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曾禹乐</a:t>
            </a:r>
            <a:endParaRPr lang="en-US" sz="1050" dirty="0"/>
          </a:p>
        </p:txBody>
      </p:sp>
      <p:sp>
        <p:nvSpPr>
          <p:cNvPr id="7" name="Text 4"/>
          <p:cNvSpPr/>
          <p:nvPr/>
        </p:nvSpPr>
        <p:spPr>
          <a:xfrm>
            <a:off x="4786313" y="3134934"/>
            <a:ext cx="3500438" cy="14466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rPr>
              <a:t>指导教师</a:t>
            </a:r>
            <a:endParaRPr lang="en-US" sz="683" dirty="0"/>
          </a:p>
        </p:txBody>
      </p:sp>
      <p:sp>
        <p:nvSpPr>
          <p:cNvPr id="8" name="Text 5"/>
          <p:cNvSpPr/>
          <p:nvPr/>
        </p:nvSpPr>
        <p:spPr>
          <a:xfrm>
            <a:off x="4786313" y="3336745"/>
            <a:ext cx="3500438"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王浩</a:t>
            </a:r>
            <a:endParaRPr lang="en-US" sz="1050" dirty="0"/>
          </a:p>
        </p:txBody>
      </p:sp>
      <p:sp>
        <p:nvSpPr>
          <p:cNvPr id="9" name="Text 6"/>
          <p:cNvSpPr/>
          <p:nvPr/>
        </p:nvSpPr>
        <p:spPr>
          <a:xfrm>
            <a:off x="1143000" y="3686789"/>
            <a:ext cx="3500438" cy="14466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rPr>
              <a:t>专业</a:t>
            </a:r>
            <a:endParaRPr lang="en-US" sz="683" dirty="0"/>
          </a:p>
        </p:txBody>
      </p:sp>
      <p:sp>
        <p:nvSpPr>
          <p:cNvPr id="10" name="Text 7"/>
          <p:cNvSpPr/>
          <p:nvPr/>
        </p:nvSpPr>
        <p:spPr>
          <a:xfrm>
            <a:off x="1143000" y="3888600"/>
            <a:ext cx="3500438"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网络空间安全</a:t>
            </a:r>
            <a:endParaRPr lang="en-US" sz="1050" dirty="0"/>
          </a:p>
        </p:txBody>
      </p:sp>
      <p:sp>
        <p:nvSpPr>
          <p:cNvPr id="11" name="Text 8"/>
          <p:cNvSpPr/>
          <p:nvPr/>
        </p:nvSpPr>
        <p:spPr>
          <a:xfrm>
            <a:off x="4786313" y="3686789"/>
            <a:ext cx="3500438" cy="14466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1A"/>
                </a:solidFill>
              </a:rPr>
              <a:t>学院</a:t>
            </a:r>
            <a:endParaRPr lang="en-US" sz="683" dirty="0"/>
          </a:p>
        </p:txBody>
      </p:sp>
      <p:sp>
        <p:nvSpPr>
          <p:cNvPr id="12" name="Text 9"/>
          <p:cNvSpPr/>
          <p:nvPr/>
        </p:nvSpPr>
        <p:spPr>
          <a:xfrm>
            <a:off x="4786313" y="3888600"/>
            <a:ext cx="3500438" cy="20716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333333"/>
                </a:solidFill>
              </a:rPr>
              <a:t>网络空间安全学院</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0"/>
            <a:ext cx="2064041" cy="1050550"/>
          </a:xfrm>
          <a:prstGeom prst="rect">
            <a:avLst/>
          </a:prstGeom>
          <a:solidFill>
            <a:srgbClr val="000000">
              <a:alpha val="0"/>
            </a:srgbClr>
          </a:solidFill>
          <a:ln/>
        </p:spPr>
      </p:sp>
      <p:sp>
        <p:nvSpPr>
          <p:cNvPr id="4" name="Shape 1"/>
          <p:cNvSpPr/>
          <p:nvPr/>
        </p:nvSpPr>
        <p:spPr>
          <a:xfrm>
            <a:off x="571500" y="1021975"/>
            <a:ext cx="2064041" cy="28575"/>
          </a:xfrm>
          <a:prstGeom prst="rect">
            <a:avLst/>
          </a:prstGeom>
          <a:solidFill>
            <a:srgbClr val="1A1A1A"/>
          </a:solidFill>
          <a:ln/>
        </p:spPr>
      </p:sp>
      <p:sp>
        <p:nvSpPr>
          <p:cNvPr id="5" name="Text 2"/>
          <p:cNvSpPr/>
          <p:nvPr/>
        </p:nvSpPr>
        <p:spPr>
          <a:xfrm>
            <a:off x="571500" y="618353"/>
            <a:ext cx="2720938"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01 </a:t>
            </a:r>
            <a:r>
              <a:rPr lang="en-US" sz="1602" b="1" kern="0" spc="2" dirty="0" err="1">
                <a:solidFill>
                  <a:srgbClr val="1A1A1A"/>
                </a:solidFill>
              </a:rPr>
              <a:t>研究意义与国内外研究动态</a:t>
            </a:r>
            <a:endParaRPr lang="en-US" sz="1602" dirty="0"/>
          </a:p>
        </p:txBody>
      </p:sp>
      <p:sp>
        <p:nvSpPr>
          <p:cNvPr id="6" name="Text 3"/>
          <p:cNvSpPr/>
          <p:nvPr/>
        </p:nvSpPr>
        <p:spPr>
          <a:xfrm>
            <a:off x="571500" y="1450600"/>
            <a:ext cx="846899" cy="205184"/>
          </a:xfrm>
          <a:prstGeom prst="rect">
            <a:avLst/>
          </a:prstGeom>
          <a:noFill/>
          <a:ln/>
        </p:spPr>
        <p:txBody>
          <a:bodyPr wrap="none" lIns="127508" tIns="0" rIns="0" bIns="0" rtlCol="0" anchor="t">
            <a:spAutoFit/>
          </a:bodyPr>
          <a:lstStyle/>
          <a:p>
            <a:pPr marL="0" indent="0" algn="l">
              <a:lnSpc>
                <a:spcPts val="1600"/>
              </a:lnSpc>
              <a:buNone/>
            </a:pPr>
            <a:r>
              <a:rPr lang="en-US" sz="1400" b="1" dirty="0" err="1">
                <a:solidFill>
                  <a:srgbClr val="FF4500"/>
                </a:solidFill>
              </a:rPr>
              <a:t>研究意义</a:t>
            </a:r>
            <a:endParaRPr lang="en-US" sz="1400" dirty="0"/>
          </a:p>
        </p:txBody>
      </p:sp>
      <p:sp>
        <p:nvSpPr>
          <p:cNvPr id="7" name="Text 4"/>
          <p:cNvSpPr/>
          <p:nvPr/>
        </p:nvSpPr>
        <p:spPr>
          <a:xfrm>
            <a:off x="571500" y="1914944"/>
            <a:ext cx="1356140" cy="169405"/>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1A1A"/>
                </a:solidFill>
              </a:rPr>
              <a:t>细粒度图像分类 (FGVC)</a:t>
            </a:r>
            <a:endParaRPr lang="en-US" sz="1050" dirty="0"/>
          </a:p>
        </p:txBody>
      </p:sp>
      <p:sp>
        <p:nvSpPr>
          <p:cNvPr id="8" name="Text 5"/>
          <p:cNvSpPr/>
          <p:nvPr/>
        </p:nvSpPr>
        <p:spPr>
          <a:xfrm>
            <a:off x="571500" y="2193550"/>
            <a:ext cx="3714750" cy="344005"/>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识别类别间差异极小的物体（如不同品种的猫狗），是计算机视觉领域极具挑战性的分支。</a:t>
            </a:r>
            <a:endParaRPr lang="en-US" sz="1000" dirty="0"/>
          </a:p>
        </p:txBody>
      </p:sp>
      <p:sp>
        <p:nvSpPr>
          <p:cNvPr id="9" name="Text 6"/>
          <p:cNvSpPr/>
          <p:nvPr/>
        </p:nvSpPr>
        <p:spPr>
          <a:xfrm>
            <a:off x="571500" y="2845026"/>
            <a:ext cx="807913" cy="169405"/>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1A1A"/>
                </a:solidFill>
              </a:rPr>
              <a:t>技术范式转型</a:t>
            </a:r>
            <a:endParaRPr lang="en-US" sz="1050" dirty="0"/>
          </a:p>
        </p:txBody>
      </p:sp>
      <p:sp>
        <p:nvSpPr>
          <p:cNvPr id="10" name="Text 7"/>
          <p:cNvSpPr/>
          <p:nvPr/>
        </p:nvSpPr>
        <p:spPr>
          <a:xfrm>
            <a:off x="571500" y="3123633"/>
            <a:ext cx="3714750" cy="344005"/>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当前研究正从“以CNN为主的单模态识别”向“基于提示学习的多模态协同”关键转型。</a:t>
            </a:r>
            <a:endParaRPr lang="en-US" sz="1000" dirty="0"/>
          </a:p>
        </p:txBody>
      </p:sp>
      <p:sp>
        <p:nvSpPr>
          <p:cNvPr id="11" name="Text 8"/>
          <p:cNvSpPr/>
          <p:nvPr/>
        </p:nvSpPr>
        <p:spPr>
          <a:xfrm>
            <a:off x="4857750" y="1450600"/>
            <a:ext cx="128818" cy="194284"/>
          </a:xfrm>
          <a:prstGeom prst="rect">
            <a:avLst/>
          </a:prstGeom>
          <a:noFill/>
          <a:ln/>
        </p:spPr>
        <p:txBody>
          <a:bodyPr wrap="none" lIns="127508" tIns="0" rIns="0" bIns="0" rtlCol="0" anchor="t">
            <a:spAutoFit/>
          </a:bodyPr>
          <a:lstStyle/>
          <a:p>
            <a:pPr marL="0" indent="0" algn="l">
              <a:lnSpc>
                <a:spcPts val="1600"/>
              </a:lnSpc>
              <a:buNone/>
            </a:pPr>
            <a:endParaRPr lang="en-US" sz="1193" dirty="0"/>
          </a:p>
        </p:txBody>
      </p:sp>
      <p:sp>
        <p:nvSpPr>
          <p:cNvPr id="12" name="Text 9"/>
          <p:cNvSpPr/>
          <p:nvPr/>
        </p:nvSpPr>
        <p:spPr>
          <a:xfrm>
            <a:off x="4857750" y="1914944"/>
            <a:ext cx="538609" cy="169405"/>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1A1A"/>
                </a:solidFill>
              </a:rPr>
              <a:t>理论价值</a:t>
            </a:r>
            <a:endParaRPr lang="en-US" sz="1050" dirty="0"/>
          </a:p>
        </p:txBody>
      </p:sp>
      <p:sp>
        <p:nvSpPr>
          <p:cNvPr id="13" name="Text 10"/>
          <p:cNvSpPr/>
          <p:nvPr/>
        </p:nvSpPr>
        <p:spPr>
          <a:xfrm>
            <a:off x="4857750" y="2193550"/>
            <a:ext cx="3866800" cy="344005"/>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将视觉语言预训练模型 (VLP) 的泛化能力与细粒度任务的局部判别性需求相结合。</a:t>
            </a:r>
            <a:endParaRPr lang="en-US" sz="1000" dirty="0"/>
          </a:p>
        </p:txBody>
      </p:sp>
      <p:sp>
        <p:nvSpPr>
          <p:cNvPr id="14" name="Text 11"/>
          <p:cNvSpPr/>
          <p:nvPr/>
        </p:nvSpPr>
        <p:spPr>
          <a:xfrm>
            <a:off x="4857750" y="2845026"/>
            <a:ext cx="538609" cy="169405"/>
          </a:xfrm>
          <a:prstGeom prst="rect">
            <a:avLst/>
          </a:prstGeom>
          <a:noFill/>
          <a:ln/>
        </p:spPr>
        <p:txBody>
          <a:bodyPr wrap="none" lIns="0" tIns="0" rIns="0" bIns="0" rtlCol="0" anchor="t">
            <a:spAutoFit/>
          </a:bodyPr>
          <a:lstStyle/>
          <a:p>
            <a:pPr marL="0" indent="0" algn="l">
              <a:lnSpc>
                <a:spcPts val="1400"/>
              </a:lnSpc>
              <a:buNone/>
            </a:pPr>
            <a:r>
              <a:rPr lang="en-US" sz="1050" b="1" dirty="0">
                <a:solidFill>
                  <a:srgbClr val="1A1A1A"/>
                </a:solidFill>
              </a:rPr>
              <a:t>应用价值</a:t>
            </a:r>
            <a:endParaRPr lang="en-US" sz="1050" dirty="0"/>
          </a:p>
        </p:txBody>
      </p:sp>
      <p:sp>
        <p:nvSpPr>
          <p:cNvPr id="15" name="Text 12"/>
          <p:cNvSpPr/>
          <p:nvPr/>
        </p:nvSpPr>
        <p:spPr>
          <a:xfrm>
            <a:off x="4857749" y="3123633"/>
            <a:ext cx="3866799" cy="344005"/>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333333"/>
                </a:solidFill>
              </a:rPr>
              <a:t>通过自适应动态提示词优化，显著降低模型训练成本和对大规模标注数据的依赖。</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0"/>
            <a:ext cx="2064041" cy="1050550"/>
          </a:xfrm>
          <a:prstGeom prst="rect">
            <a:avLst/>
          </a:prstGeom>
          <a:solidFill>
            <a:srgbClr val="000000">
              <a:alpha val="0"/>
            </a:srgbClr>
          </a:solidFill>
          <a:ln/>
        </p:spPr>
      </p:sp>
      <p:sp>
        <p:nvSpPr>
          <p:cNvPr id="4" name="Shape 1"/>
          <p:cNvSpPr/>
          <p:nvPr/>
        </p:nvSpPr>
        <p:spPr>
          <a:xfrm>
            <a:off x="571500" y="1021975"/>
            <a:ext cx="2064041" cy="28575"/>
          </a:xfrm>
          <a:prstGeom prst="rect">
            <a:avLst/>
          </a:prstGeom>
          <a:solidFill>
            <a:srgbClr val="1A1A1A"/>
          </a:solidFill>
          <a:ln/>
        </p:spPr>
      </p:sp>
      <p:sp>
        <p:nvSpPr>
          <p:cNvPr id="5" name="Text 2"/>
          <p:cNvSpPr/>
          <p:nvPr/>
        </p:nvSpPr>
        <p:spPr>
          <a:xfrm>
            <a:off x="571500" y="618353"/>
            <a:ext cx="2720938"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a:t>
            </a:r>
            <a:r>
              <a:rPr lang="en-US" altLang="zh-CN" sz="1602" b="1" kern="0" spc="2" dirty="0">
                <a:solidFill>
                  <a:srgbClr val="1A1A1A"/>
                </a:solidFill>
              </a:rPr>
              <a:t>1</a:t>
            </a:r>
            <a:r>
              <a:rPr lang="en-US" sz="1602" b="1" kern="0" spc="2" dirty="0">
                <a:solidFill>
                  <a:srgbClr val="1A1A1A"/>
                </a:solidFill>
              </a:rPr>
              <a:t> </a:t>
            </a:r>
            <a:r>
              <a:rPr lang="en-US" sz="1602" b="1" kern="0" spc="2" dirty="0" err="1">
                <a:solidFill>
                  <a:srgbClr val="1A1A1A"/>
                </a:solidFill>
              </a:rPr>
              <a:t>研究意义与国内外研究现状</a:t>
            </a:r>
            <a:endParaRPr lang="en-US" sz="1602" dirty="0"/>
          </a:p>
        </p:txBody>
      </p:sp>
      <p:sp>
        <p:nvSpPr>
          <p:cNvPr id="6" name="Text 3"/>
          <p:cNvSpPr/>
          <p:nvPr/>
        </p:nvSpPr>
        <p:spPr>
          <a:xfrm>
            <a:off x="571500" y="1450600"/>
            <a:ext cx="3771900"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500"/>
                </a:solidFill>
              </a:rPr>
              <a:t>传统 CNN 方法</a:t>
            </a:r>
            <a:endParaRPr lang="en-US" sz="987" dirty="0"/>
          </a:p>
        </p:txBody>
      </p:sp>
      <p:sp>
        <p:nvSpPr>
          <p:cNvPr id="7" name="Text 4"/>
          <p:cNvSpPr/>
          <p:nvPr/>
        </p:nvSpPr>
        <p:spPr>
          <a:xfrm>
            <a:off x="857250" y="1786356"/>
            <a:ext cx="85725"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1A1A1A"/>
                </a:solidFill>
              </a:rPr>
              <a:t>■</a:t>
            </a:r>
            <a:endParaRPr lang="en-US" sz="621" dirty="0"/>
          </a:p>
        </p:txBody>
      </p:sp>
      <p:sp>
        <p:nvSpPr>
          <p:cNvPr id="8" name="Text 5"/>
          <p:cNvSpPr/>
          <p:nvPr/>
        </p:nvSpPr>
        <p:spPr>
          <a:xfrm>
            <a:off x="1000125" y="1784570"/>
            <a:ext cx="268605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利用注意力机制聚焦局部判别特征（如五官、毛色）。</a:t>
            </a:r>
            <a:endParaRPr lang="en-US" sz="834" dirty="0"/>
          </a:p>
        </p:txBody>
      </p:sp>
      <p:sp>
        <p:nvSpPr>
          <p:cNvPr id="9" name="Text 6"/>
          <p:cNvSpPr/>
          <p:nvPr/>
        </p:nvSpPr>
        <p:spPr>
          <a:xfrm>
            <a:off x="857250" y="2026369"/>
            <a:ext cx="85725"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1A1A1A"/>
                </a:solidFill>
              </a:rPr>
              <a:t>■</a:t>
            </a:r>
            <a:endParaRPr lang="en-US" sz="621" dirty="0"/>
          </a:p>
        </p:txBody>
      </p:sp>
      <p:sp>
        <p:nvSpPr>
          <p:cNvPr id="10" name="Text 7"/>
          <p:cNvSpPr/>
          <p:nvPr/>
        </p:nvSpPr>
        <p:spPr>
          <a:xfrm>
            <a:off x="1000125" y="2024583"/>
            <a:ext cx="205740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显式检测关键部件并融合特征进行分类。</a:t>
            </a:r>
            <a:endParaRPr lang="en-US" sz="834" dirty="0"/>
          </a:p>
        </p:txBody>
      </p:sp>
      <p:sp>
        <p:nvSpPr>
          <p:cNvPr id="11" name="Text 8"/>
          <p:cNvSpPr/>
          <p:nvPr/>
        </p:nvSpPr>
        <p:spPr>
          <a:xfrm>
            <a:off x="857250" y="2266383"/>
            <a:ext cx="85725"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1A1A1A"/>
                </a:solidFill>
              </a:rPr>
              <a:t>■</a:t>
            </a:r>
            <a:endParaRPr lang="en-US" sz="621" dirty="0"/>
          </a:p>
        </p:txBody>
      </p:sp>
      <p:sp>
        <p:nvSpPr>
          <p:cNvPr id="12" name="Text 9"/>
          <p:cNvSpPr/>
          <p:nvPr/>
        </p:nvSpPr>
        <p:spPr>
          <a:xfrm>
            <a:off x="1000125" y="2264597"/>
            <a:ext cx="342900"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rPr>
              <a:t>局限：</a:t>
            </a:r>
            <a:endParaRPr lang="en-US" sz="784" dirty="0"/>
          </a:p>
        </p:txBody>
      </p:sp>
      <p:sp>
        <p:nvSpPr>
          <p:cNvPr id="13" name="Text 10"/>
          <p:cNvSpPr/>
          <p:nvPr/>
        </p:nvSpPr>
        <p:spPr>
          <a:xfrm>
            <a:off x="1343025" y="2264597"/>
            <a:ext cx="205740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高度依赖标注，泛化能力和鲁棒性较差。</a:t>
            </a:r>
            <a:endParaRPr lang="en-US" sz="834" dirty="0"/>
          </a:p>
        </p:txBody>
      </p:sp>
      <p:sp>
        <p:nvSpPr>
          <p:cNvPr id="14" name="Text 11"/>
          <p:cNvSpPr/>
          <p:nvPr/>
        </p:nvSpPr>
        <p:spPr>
          <a:xfrm>
            <a:off x="571500" y="2835008"/>
            <a:ext cx="3771900"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500"/>
                </a:solidFill>
              </a:rPr>
              <a:t>提示学习 (Prompt Learning)</a:t>
            </a:r>
            <a:endParaRPr lang="en-US" sz="987" dirty="0"/>
          </a:p>
        </p:txBody>
      </p:sp>
      <p:sp>
        <p:nvSpPr>
          <p:cNvPr id="15" name="Text 12"/>
          <p:cNvSpPr/>
          <p:nvPr/>
        </p:nvSpPr>
        <p:spPr>
          <a:xfrm>
            <a:off x="857250" y="3170765"/>
            <a:ext cx="85725"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1A1A1A"/>
                </a:solidFill>
              </a:rPr>
              <a:t>■</a:t>
            </a:r>
            <a:endParaRPr lang="en-US" sz="621" dirty="0"/>
          </a:p>
        </p:txBody>
      </p:sp>
      <p:sp>
        <p:nvSpPr>
          <p:cNvPr id="16" name="Text 13"/>
          <p:cNvSpPr/>
          <p:nvPr/>
        </p:nvSpPr>
        <p:spPr>
          <a:xfrm>
            <a:off x="1000125" y="3168979"/>
            <a:ext cx="367959"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rPr>
              <a:t>CLIP：</a:t>
            </a:r>
            <a:endParaRPr lang="en-US" sz="784" dirty="0"/>
          </a:p>
        </p:txBody>
      </p:sp>
      <p:sp>
        <p:nvSpPr>
          <p:cNvPr id="17" name="Text 14"/>
          <p:cNvSpPr/>
          <p:nvPr/>
        </p:nvSpPr>
        <p:spPr>
          <a:xfrm>
            <a:off x="1368084" y="3168979"/>
            <a:ext cx="194310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展现强大的零样本和少样本迁移能力。</a:t>
            </a:r>
            <a:endParaRPr lang="en-US" sz="834" dirty="0"/>
          </a:p>
        </p:txBody>
      </p:sp>
      <p:sp>
        <p:nvSpPr>
          <p:cNvPr id="18" name="Text 15"/>
          <p:cNvSpPr/>
          <p:nvPr/>
        </p:nvSpPr>
        <p:spPr>
          <a:xfrm>
            <a:off x="857250" y="3410778"/>
            <a:ext cx="85725"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1A1A1A"/>
                </a:solidFill>
              </a:rPr>
              <a:t>■</a:t>
            </a:r>
            <a:endParaRPr lang="en-US" sz="621" dirty="0"/>
          </a:p>
        </p:txBody>
      </p:sp>
      <p:sp>
        <p:nvSpPr>
          <p:cNvPr id="19" name="Text 16"/>
          <p:cNvSpPr/>
          <p:nvPr/>
        </p:nvSpPr>
        <p:spPr>
          <a:xfrm>
            <a:off x="1000125" y="3408992"/>
            <a:ext cx="421202"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rPr>
              <a:t>CoOp：</a:t>
            </a:r>
            <a:endParaRPr lang="en-US" sz="784" dirty="0"/>
          </a:p>
        </p:txBody>
      </p:sp>
      <p:sp>
        <p:nvSpPr>
          <p:cNvPr id="20" name="Text 17"/>
          <p:cNvSpPr/>
          <p:nvPr/>
        </p:nvSpPr>
        <p:spPr>
          <a:xfrm>
            <a:off x="1421327" y="3408992"/>
            <a:ext cx="205740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将手工提示词替换为可学习的连续向量。</a:t>
            </a:r>
            <a:endParaRPr lang="en-US" sz="834" dirty="0"/>
          </a:p>
        </p:txBody>
      </p:sp>
      <p:sp>
        <p:nvSpPr>
          <p:cNvPr id="21" name="Text 18"/>
          <p:cNvSpPr/>
          <p:nvPr/>
        </p:nvSpPr>
        <p:spPr>
          <a:xfrm>
            <a:off x="857250" y="3650791"/>
            <a:ext cx="85725"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1A1A1A"/>
                </a:solidFill>
              </a:rPr>
              <a:t>■</a:t>
            </a:r>
            <a:endParaRPr lang="en-US" sz="621" dirty="0"/>
          </a:p>
        </p:txBody>
      </p:sp>
      <p:sp>
        <p:nvSpPr>
          <p:cNvPr id="22" name="Text 19"/>
          <p:cNvSpPr/>
          <p:nvPr/>
        </p:nvSpPr>
        <p:spPr>
          <a:xfrm>
            <a:off x="1000125" y="3649005"/>
            <a:ext cx="564775" cy="155377"/>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33333"/>
                </a:solidFill>
              </a:rPr>
              <a:t>CoCoOp：</a:t>
            </a:r>
            <a:endParaRPr lang="en-US" sz="784" dirty="0"/>
          </a:p>
        </p:txBody>
      </p:sp>
      <p:sp>
        <p:nvSpPr>
          <p:cNvPr id="23" name="Text 20"/>
          <p:cNvSpPr/>
          <p:nvPr/>
        </p:nvSpPr>
        <p:spPr>
          <a:xfrm>
            <a:off x="1564900" y="3649005"/>
            <a:ext cx="2057400"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333333"/>
                </a:solidFill>
              </a:rPr>
              <a:t>引入条件提示生成网络，实现动态提示。</a:t>
            </a:r>
            <a:endParaRPr lang="en-US" sz="834" dirty="0"/>
          </a:p>
        </p:txBody>
      </p:sp>
      <p:sp>
        <p:nvSpPr>
          <p:cNvPr id="25" name="Text 21"/>
          <p:cNvSpPr/>
          <p:nvPr/>
        </p:nvSpPr>
        <p:spPr>
          <a:xfrm>
            <a:off x="5798712" y="4539909"/>
            <a:ext cx="1654532" cy="144661"/>
          </a:xfrm>
          <a:prstGeom prst="rect">
            <a:avLst/>
          </a:prstGeom>
          <a:noFill/>
          <a:ln/>
        </p:spPr>
        <p:txBody>
          <a:bodyPr wrap="none" lIns="0" tIns="0" rIns="0" bIns="0" rtlCol="0" anchor="t">
            <a:spAutoFit/>
          </a:bodyPr>
          <a:lstStyle/>
          <a:p>
            <a:pPr marL="0" indent="0" algn="l">
              <a:lnSpc>
                <a:spcPts val="900"/>
              </a:lnSpc>
              <a:buNone/>
            </a:pPr>
            <a:r>
              <a:rPr lang="en-US" sz="727" i="1" dirty="0">
                <a:solidFill>
                  <a:srgbClr val="666666"/>
                </a:solidFill>
              </a:rPr>
              <a:t>图 1. CLIP 模型架构与零样本分类流程</a:t>
            </a:r>
            <a:endParaRPr lang="en-US" sz="727" dirty="0"/>
          </a:p>
        </p:txBody>
      </p:sp>
      <p:pic>
        <p:nvPicPr>
          <p:cNvPr id="27" name="图片 26" descr="图示&#10;&#10;AI 生成的内容可能不正确。">
            <a:extLst>
              <a:ext uri="{FF2B5EF4-FFF2-40B4-BE49-F238E27FC236}">
                <a16:creationId xmlns:a16="http://schemas.microsoft.com/office/drawing/2014/main" id="{388FC0A8-AEDC-93A9-E3D3-63F53B59A07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22126" y="311555"/>
            <a:ext cx="5578475" cy="40614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0"/>
            <a:ext cx="2064041" cy="1050550"/>
          </a:xfrm>
          <a:prstGeom prst="rect">
            <a:avLst/>
          </a:prstGeom>
          <a:solidFill>
            <a:srgbClr val="000000">
              <a:alpha val="0"/>
            </a:srgbClr>
          </a:solidFill>
          <a:ln/>
        </p:spPr>
      </p:sp>
      <p:sp>
        <p:nvSpPr>
          <p:cNvPr id="4" name="Shape 1"/>
          <p:cNvSpPr/>
          <p:nvPr/>
        </p:nvSpPr>
        <p:spPr>
          <a:xfrm>
            <a:off x="571500" y="1021975"/>
            <a:ext cx="2064041" cy="28575"/>
          </a:xfrm>
          <a:prstGeom prst="rect">
            <a:avLst/>
          </a:prstGeom>
          <a:solidFill>
            <a:srgbClr val="1A1A1A"/>
          </a:solidFill>
          <a:ln/>
        </p:spPr>
      </p:sp>
      <p:sp>
        <p:nvSpPr>
          <p:cNvPr id="5" name="Text 2"/>
          <p:cNvSpPr/>
          <p:nvPr/>
        </p:nvSpPr>
        <p:spPr>
          <a:xfrm>
            <a:off x="571500" y="618353"/>
            <a:ext cx="1488293"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a:t>
            </a:r>
            <a:r>
              <a:rPr lang="en-US" altLang="zh-CN" sz="1602" b="1" kern="0" spc="2" dirty="0">
                <a:solidFill>
                  <a:srgbClr val="1A1A1A"/>
                </a:solidFill>
              </a:rPr>
              <a:t>2</a:t>
            </a:r>
            <a:r>
              <a:rPr lang="en-US" sz="1602" b="1" kern="0" spc="2" dirty="0">
                <a:solidFill>
                  <a:srgbClr val="1A1A1A"/>
                </a:solidFill>
              </a:rPr>
              <a:t> </a:t>
            </a:r>
            <a:r>
              <a:rPr lang="en-US" sz="1602" b="1" kern="0" spc="2" dirty="0" err="1">
                <a:solidFill>
                  <a:srgbClr val="1A1A1A"/>
                </a:solidFill>
              </a:rPr>
              <a:t>研究基本内容</a:t>
            </a:r>
            <a:endParaRPr lang="en-US" sz="1602" dirty="0"/>
          </a:p>
        </p:txBody>
      </p:sp>
      <p:sp>
        <p:nvSpPr>
          <p:cNvPr id="8" name="Text 5"/>
          <p:cNvSpPr/>
          <p:nvPr/>
        </p:nvSpPr>
        <p:spPr>
          <a:xfrm>
            <a:off x="571500" y="2255066"/>
            <a:ext cx="863017" cy="192360"/>
          </a:xfrm>
          <a:prstGeom prst="rect">
            <a:avLst/>
          </a:prstGeom>
          <a:noFill/>
          <a:ln/>
        </p:spPr>
        <p:txBody>
          <a:bodyPr wrap="square" lIns="0" tIns="0" rIns="0" bIns="0" rtlCol="0" anchor="t">
            <a:spAutoFit/>
          </a:bodyPr>
          <a:lstStyle/>
          <a:p>
            <a:pPr marL="0" indent="0" algn="l">
              <a:lnSpc>
                <a:spcPts val="1500"/>
              </a:lnSpc>
              <a:buNone/>
            </a:pPr>
            <a:r>
              <a:rPr lang="en-US" sz="1400" b="1" dirty="0">
                <a:solidFill>
                  <a:srgbClr val="1A1A1A"/>
                </a:solidFill>
              </a:rPr>
              <a:t>框架构建</a:t>
            </a:r>
            <a:endParaRPr lang="en-US" sz="1400" dirty="0"/>
          </a:p>
        </p:txBody>
      </p:sp>
      <p:sp>
        <p:nvSpPr>
          <p:cNvPr id="9" name="Text 6"/>
          <p:cNvSpPr/>
          <p:nvPr/>
        </p:nvSpPr>
        <p:spPr>
          <a:xfrm>
            <a:off x="571500" y="2663970"/>
            <a:ext cx="3786188"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基于冻结参数的 CLIP 模型，构建“图像-文本联合表示 + 自适应动态提示”的细粒度分类框架。</a:t>
            </a:r>
            <a:endParaRPr lang="en-US" sz="942" dirty="0"/>
          </a:p>
        </p:txBody>
      </p:sp>
      <p:sp>
        <p:nvSpPr>
          <p:cNvPr id="10" name="Text 7"/>
          <p:cNvSpPr/>
          <p:nvPr/>
        </p:nvSpPr>
        <p:spPr>
          <a:xfrm>
            <a:off x="4786313" y="2249006"/>
            <a:ext cx="822341" cy="192360"/>
          </a:xfrm>
          <a:prstGeom prst="rect">
            <a:avLst/>
          </a:prstGeom>
          <a:noFill/>
          <a:ln/>
        </p:spPr>
        <p:txBody>
          <a:bodyPr wrap="none" lIns="0" tIns="0" rIns="0" bIns="0" rtlCol="0" anchor="t">
            <a:spAutoFit/>
          </a:bodyPr>
          <a:lstStyle/>
          <a:p>
            <a:pPr marL="0" indent="0" algn="l">
              <a:lnSpc>
                <a:spcPts val="1500"/>
              </a:lnSpc>
              <a:buNone/>
            </a:pPr>
            <a:r>
              <a:rPr lang="en-US" sz="1400" b="1" dirty="0">
                <a:solidFill>
                  <a:srgbClr val="1A1A1A"/>
                </a:solidFill>
              </a:rPr>
              <a:t>CPGN 改进</a:t>
            </a:r>
            <a:endParaRPr lang="en-US" sz="1400" dirty="0"/>
          </a:p>
        </p:txBody>
      </p:sp>
      <p:sp>
        <p:nvSpPr>
          <p:cNvPr id="11" name="Text 8"/>
          <p:cNvSpPr/>
          <p:nvPr/>
        </p:nvSpPr>
        <p:spPr>
          <a:xfrm>
            <a:off x="4786313" y="2663970"/>
            <a:ext cx="3786188"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设计能够融合图像局部判别特征与全局语义特征的条件提示生成网络，动态生成适应样本的提示词向量。</a:t>
            </a:r>
            <a:endParaRPr lang="en-US" sz="942" dirty="0"/>
          </a:p>
        </p:txBody>
      </p:sp>
      <p:sp>
        <p:nvSpPr>
          <p:cNvPr id="14" name="Text 3">
            <a:extLst>
              <a:ext uri="{FF2B5EF4-FFF2-40B4-BE49-F238E27FC236}">
                <a16:creationId xmlns:a16="http://schemas.microsoft.com/office/drawing/2014/main" id="{AD0C34F1-EC79-6F2E-3A20-753FA4DA2BE1}"/>
              </a:ext>
            </a:extLst>
          </p:cNvPr>
          <p:cNvSpPr/>
          <p:nvPr/>
        </p:nvSpPr>
        <p:spPr>
          <a:xfrm>
            <a:off x="571500" y="1593475"/>
            <a:ext cx="392292" cy="480417"/>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500"/>
                </a:solidFill>
              </a:rPr>
              <a:t>01</a:t>
            </a:r>
            <a:endParaRPr lang="en-US" sz="2436" dirty="0"/>
          </a:p>
        </p:txBody>
      </p:sp>
      <p:sp>
        <p:nvSpPr>
          <p:cNvPr id="15" name="Text 6">
            <a:extLst>
              <a:ext uri="{FF2B5EF4-FFF2-40B4-BE49-F238E27FC236}">
                <a16:creationId xmlns:a16="http://schemas.microsoft.com/office/drawing/2014/main" id="{8D6D7586-9C90-C272-205D-204F74802D46}"/>
              </a:ext>
            </a:extLst>
          </p:cNvPr>
          <p:cNvSpPr/>
          <p:nvPr/>
        </p:nvSpPr>
        <p:spPr>
          <a:xfrm>
            <a:off x="4786313" y="1593042"/>
            <a:ext cx="392292" cy="480417"/>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500"/>
                </a:solidFill>
              </a:rPr>
              <a:t>02</a:t>
            </a:r>
            <a:endParaRPr lang="en-US" sz="243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0"/>
            <a:ext cx="2306929" cy="1050550"/>
          </a:xfrm>
          <a:prstGeom prst="rect">
            <a:avLst/>
          </a:prstGeom>
          <a:solidFill>
            <a:srgbClr val="000000">
              <a:alpha val="0"/>
            </a:srgbClr>
          </a:solidFill>
          <a:ln/>
        </p:spPr>
      </p:sp>
      <p:sp>
        <p:nvSpPr>
          <p:cNvPr id="4" name="Shape 1"/>
          <p:cNvSpPr/>
          <p:nvPr/>
        </p:nvSpPr>
        <p:spPr>
          <a:xfrm>
            <a:off x="571500" y="1021975"/>
            <a:ext cx="2306929" cy="28575"/>
          </a:xfrm>
          <a:prstGeom prst="rect">
            <a:avLst/>
          </a:prstGeom>
          <a:solidFill>
            <a:srgbClr val="1A1A1A"/>
          </a:solidFill>
          <a:ln/>
        </p:spPr>
      </p:sp>
      <p:sp>
        <p:nvSpPr>
          <p:cNvPr id="5" name="Text 2"/>
          <p:cNvSpPr/>
          <p:nvPr/>
        </p:nvSpPr>
        <p:spPr>
          <a:xfrm>
            <a:off x="571500" y="618353"/>
            <a:ext cx="1899174"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a:t>
            </a:r>
            <a:r>
              <a:rPr lang="en-US" altLang="zh-CN" sz="1602" b="1" kern="0" spc="2" dirty="0">
                <a:solidFill>
                  <a:srgbClr val="1A1A1A"/>
                </a:solidFill>
              </a:rPr>
              <a:t>3</a:t>
            </a:r>
            <a:r>
              <a:rPr lang="en-US" sz="1602" b="1" kern="0" spc="2" dirty="0">
                <a:solidFill>
                  <a:srgbClr val="1A1A1A"/>
                </a:solidFill>
              </a:rPr>
              <a:t> 拟解决的关键问题</a:t>
            </a:r>
            <a:endParaRPr lang="en-US" sz="1602" dirty="0"/>
          </a:p>
        </p:txBody>
      </p:sp>
      <p:sp>
        <p:nvSpPr>
          <p:cNvPr id="6" name="Text 3"/>
          <p:cNvSpPr/>
          <p:nvPr/>
        </p:nvSpPr>
        <p:spPr>
          <a:xfrm>
            <a:off x="571500" y="1593475"/>
            <a:ext cx="392292" cy="480417"/>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500"/>
                </a:solidFill>
              </a:rPr>
              <a:t>01</a:t>
            </a:r>
            <a:endParaRPr lang="en-US" sz="2436" dirty="0"/>
          </a:p>
        </p:txBody>
      </p:sp>
      <p:sp>
        <p:nvSpPr>
          <p:cNvPr id="7" name="Text 4"/>
          <p:cNvSpPr/>
          <p:nvPr/>
        </p:nvSpPr>
        <p:spPr>
          <a:xfrm>
            <a:off x="571500" y="2216767"/>
            <a:ext cx="2476481" cy="408589"/>
          </a:xfrm>
          <a:prstGeom prst="rect">
            <a:avLst/>
          </a:prstGeom>
          <a:noFill/>
          <a:ln/>
        </p:spPr>
        <p:txBody>
          <a:bodyPr wrap="square" lIns="0" tIns="0" rIns="0" bIns="0" rtlCol="0" anchor="t">
            <a:spAutoFit/>
          </a:bodyPr>
          <a:lstStyle/>
          <a:p>
            <a:pPr marL="0" indent="0" algn="l">
              <a:lnSpc>
                <a:spcPts val="1600"/>
              </a:lnSpc>
              <a:buNone/>
            </a:pPr>
            <a:r>
              <a:rPr lang="en-US" sz="1090" b="1" dirty="0">
                <a:solidFill>
                  <a:srgbClr val="1A1A1A"/>
                </a:solidFill>
              </a:rPr>
              <a:t>细粒度品种特征的
多模态表征</a:t>
            </a:r>
            <a:endParaRPr lang="en-US" sz="1090" dirty="0"/>
          </a:p>
        </p:txBody>
      </p:sp>
      <p:sp>
        <p:nvSpPr>
          <p:cNvPr id="8" name="Text 5"/>
          <p:cNvSpPr/>
          <p:nvPr/>
        </p:nvSpPr>
        <p:spPr>
          <a:xfrm>
            <a:off x="571500" y="2768231"/>
            <a:ext cx="2476481"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如何在VLP模型的多模态空间中精准表征毛色、耳形等细微差异？设计提示词使其兼顾</a:t>
            </a:r>
            <a:r>
              <a:rPr lang="en-US" sz="784" b="1" dirty="0">
                <a:solidFill>
                  <a:srgbClr val="1A1A1A"/>
                </a:solidFill>
              </a:rPr>
              <a:t>全局品种属性</a:t>
            </a:r>
            <a:r>
              <a:rPr lang="en-US" sz="834" dirty="0">
                <a:solidFill>
                  <a:srgbClr val="333333"/>
                </a:solidFill>
              </a:rPr>
              <a:t>与</a:t>
            </a:r>
            <a:r>
              <a:rPr lang="en-US" sz="784" b="1" dirty="0">
                <a:solidFill>
                  <a:srgbClr val="1A1A1A"/>
                </a:solidFill>
              </a:rPr>
              <a:t>局部判别特征</a:t>
            </a:r>
            <a:r>
              <a:rPr lang="en-US" sz="834" dirty="0">
                <a:solidFill>
                  <a:srgbClr val="333333"/>
                </a:solidFill>
              </a:rPr>
              <a:t>。</a:t>
            </a:r>
            <a:endParaRPr lang="en-US" sz="834" dirty="0"/>
          </a:p>
        </p:txBody>
      </p:sp>
      <p:sp>
        <p:nvSpPr>
          <p:cNvPr id="9" name="Text 6"/>
          <p:cNvSpPr/>
          <p:nvPr/>
        </p:nvSpPr>
        <p:spPr>
          <a:xfrm>
            <a:off x="3333731" y="1593475"/>
            <a:ext cx="392292" cy="480417"/>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500"/>
                </a:solidFill>
              </a:rPr>
              <a:t>02</a:t>
            </a:r>
            <a:endParaRPr lang="en-US" sz="2436" dirty="0"/>
          </a:p>
        </p:txBody>
      </p:sp>
      <p:sp>
        <p:nvSpPr>
          <p:cNvPr id="10" name="Text 7"/>
          <p:cNvSpPr/>
          <p:nvPr/>
        </p:nvSpPr>
        <p:spPr>
          <a:xfrm>
            <a:off x="3333731" y="2216767"/>
            <a:ext cx="2476509" cy="408589"/>
          </a:xfrm>
          <a:prstGeom prst="rect">
            <a:avLst/>
          </a:prstGeom>
          <a:noFill/>
          <a:ln/>
        </p:spPr>
        <p:txBody>
          <a:bodyPr wrap="square" lIns="0" tIns="0" rIns="0" bIns="0" rtlCol="0" anchor="t">
            <a:spAutoFit/>
          </a:bodyPr>
          <a:lstStyle/>
          <a:p>
            <a:pPr marL="0" indent="0" algn="l">
              <a:lnSpc>
                <a:spcPts val="1600"/>
              </a:lnSpc>
              <a:buNone/>
            </a:pPr>
            <a:r>
              <a:rPr lang="en-US" sz="1090" b="1" dirty="0">
                <a:solidFill>
                  <a:srgbClr val="1A1A1A"/>
                </a:solidFill>
              </a:rPr>
              <a:t>动态提示词的
自适应生成机制</a:t>
            </a:r>
            <a:endParaRPr lang="en-US" sz="1090" dirty="0"/>
          </a:p>
        </p:txBody>
      </p:sp>
      <p:sp>
        <p:nvSpPr>
          <p:cNvPr id="11" name="Text 8"/>
          <p:cNvSpPr/>
          <p:nvPr/>
        </p:nvSpPr>
        <p:spPr>
          <a:xfrm>
            <a:off x="3333731" y="2768231"/>
            <a:ext cx="2476509"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如何设计动态提示词生成网络，根据输入图像内容实时调整提示词，使其既能</a:t>
            </a:r>
            <a:r>
              <a:rPr lang="en-US" sz="784" b="1" dirty="0">
                <a:solidFill>
                  <a:srgbClr val="1A1A1A"/>
                </a:solidFill>
              </a:rPr>
              <a:t>适应样本多样性</a:t>
            </a:r>
            <a:r>
              <a:rPr lang="en-US" sz="834" dirty="0">
                <a:solidFill>
                  <a:srgbClr val="333333"/>
                </a:solidFill>
              </a:rPr>
              <a:t>，又保持对品种特征的</a:t>
            </a:r>
            <a:r>
              <a:rPr lang="en-US" sz="784" b="1" dirty="0">
                <a:solidFill>
                  <a:srgbClr val="1A1A1A"/>
                </a:solidFill>
              </a:rPr>
              <a:t>准确刻画</a:t>
            </a:r>
            <a:r>
              <a:rPr lang="en-US" sz="834" dirty="0">
                <a:solidFill>
                  <a:srgbClr val="333333"/>
                </a:solidFill>
              </a:rPr>
              <a:t>？</a:t>
            </a:r>
            <a:endParaRPr lang="en-US" sz="834" dirty="0"/>
          </a:p>
        </p:txBody>
      </p:sp>
      <p:sp>
        <p:nvSpPr>
          <p:cNvPr id="12" name="Text 9"/>
          <p:cNvSpPr/>
          <p:nvPr/>
        </p:nvSpPr>
        <p:spPr>
          <a:xfrm>
            <a:off x="6095991" y="1593475"/>
            <a:ext cx="392292" cy="480417"/>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500"/>
                </a:solidFill>
              </a:rPr>
              <a:t>03</a:t>
            </a:r>
            <a:endParaRPr lang="en-US" sz="2436" dirty="0"/>
          </a:p>
        </p:txBody>
      </p:sp>
      <p:sp>
        <p:nvSpPr>
          <p:cNvPr id="13" name="Text 10"/>
          <p:cNvSpPr/>
          <p:nvPr/>
        </p:nvSpPr>
        <p:spPr>
          <a:xfrm>
            <a:off x="6095991" y="2216767"/>
            <a:ext cx="2476481" cy="408589"/>
          </a:xfrm>
          <a:prstGeom prst="rect">
            <a:avLst/>
          </a:prstGeom>
          <a:noFill/>
          <a:ln/>
        </p:spPr>
        <p:txBody>
          <a:bodyPr wrap="square" lIns="0" tIns="0" rIns="0" bIns="0" rtlCol="0" anchor="t">
            <a:spAutoFit/>
          </a:bodyPr>
          <a:lstStyle/>
          <a:p>
            <a:pPr marL="0" indent="0" algn="l">
              <a:lnSpc>
                <a:spcPts val="1600"/>
              </a:lnSpc>
              <a:buNone/>
            </a:pPr>
            <a:r>
              <a:rPr lang="en-US" sz="1090" b="1" dirty="0">
                <a:solidFill>
                  <a:srgbClr val="1A1A1A"/>
                </a:solidFill>
              </a:rPr>
              <a:t>多模态信息的
有效融合</a:t>
            </a:r>
            <a:endParaRPr lang="en-US" sz="1090" dirty="0"/>
          </a:p>
        </p:txBody>
      </p:sp>
      <p:sp>
        <p:nvSpPr>
          <p:cNvPr id="14" name="Text 11"/>
          <p:cNvSpPr/>
          <p:nvPr/>
        </p:nvSpPr>
        <p:spPr>
          <a:xfrm>
            <a:off x="6095991" y="2768231"/>
            <a:ext cx="2476481"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如何在提示词优化过程中有效融合视觉特征与文本语义，避免单一模态的信息浪费，实现真正的</a:t>
            </a:r>
            <a:r>
              <a:rPr lang="en-US" sz="784" b="1" dirty="0">
                <a:solidFill>
                  <a:srgbClr val="1A1A1A"/>
                </a:solidFill>
              </a:rPr>
              <a:t>“视觉-语义互补”</a:t>
            </a:r>
            <a:r>
              <a:rPr lang="en-US" sz="834" dirty="0">
                <a:solidFill>
                  <a:srgbClr val="333333"/>
                </a:solidFill>
              </a:rPr>
              <a:t>？</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3" name="Image 0" descr="preencoded.png">
            <a:extLst>
              <a:ext uri="{FF2B5EF4-FFF2-40B4-BE49-F238E27FC236}">
                <a16:creationId xmlns:a16="http://schemas.microsoft.com/office/drawing/2014/main" id="{D1210BCF-EFDC-B9A5-A38A-A4B9DC4420D9}"/>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0"/>
            <a:ext cx="2306929" cy="1050550"/>
          </a:xfrm>
          <a:prstGeom prst="rect">
            <a:avLst/>
          </a:prstGeom>
          <a:solidFill>
            <a:srgbClr val="000000">
              <a:alpha val="0"/>
            </a:srgbClr>
          </a:solidFill>
          <a:ln/>
        </p:spPr>
      </p:sp>
      <p:sp>
        <p:nvSpPr>
          <p:cNvPr id="4" name="Shape 1"/>
          <p:cNvSpPr/>
          <p:nvPr/>
        </p:nvSpPr>
        <p:spPr>
          <a:xfrm>
            <a:off x="571500" y="1021975"/>
            <a:ext cx="2306929" cy="28575"/>
          </a:xfrm>
          <a:prstGeom prst="rect">
            <a:avLst/>
          </a:prstGeom>
          <a:solidFill>
            <a:srgbClr val="1A1A1A"/>
          </a:solidFill>
          <a:ln/>
        </p:spPr>
      </p:sp>
      <p:sp>
        <p:nvSpPr>
          <p:cNvPr id="5" name="Text 2"/>
          <p:cNvSpPr/>
          <p:nvPr/>
        </p:nvSpPr>
        <p:spPr>
          <a:xfrm>
            <a:off x="571500" y="618353"/>
            <a:ext cx="871970"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a:t>
            </a:r>
            <a:r>
              <a:rPr lang="en-US" altLang="zh-CN" sz="1602" b="1" kern="0" spc="2" dirty="0">
                <a:solidFill>
                  <a:srgbClr val="1A1A1A"/>
                </a:solidFill>
              </a:rPr>
              <a:t>4</a:t>
            </a:r>
            <a:r>
              <a:rPr lang="en-US" sz="1602" b="1" kern="0" spc="2" dirty="0">
                <a:solidFill>
                  <a:srgbClr val="1A1A1A"/>
                </a:solidFill>
              </a:rPr>
              <a:t> </a:t>
            </a:r>
            <a:r>
              <a:rPr lang="en-US" sz="1602" b="1" kern="0" spc="2" dirty="0" err="1">
                <a:solidFill>
                  <a:srgbClr val="1A1A1A"/>
                </a:solidFill>
              </a:rPr>
              <a:t>数据集</a:t>
            </a:r>
            <a:endParaRPr lang="en-US" sz="1602" dirty="0"/>
          </a:p>
        </p:txBody>
      </p:sp>
      <p:pic>
        <p:nvPicPr>
          <p:cNvPr id="20" name="Image 1" descr="preencoded.png"/>
          <p:cNvPicPr>
            <a:picLocks noChangeAspect="1"/>
          </p:cNvPicPr>
          <p:nvPr/>
        </p:nvPicPr>
        <p:blipFill>
          <a:blip r:embed="rId4"/>
          <a:stretch>
            <a:fillRect/>
          </a:stretch>
        </p:blipFill>
        <p:spPr>
          <a:xfrm>
            <a:off x="6253958" y="1557337"/>
            <a:ext cx="2514600" cy="1014413"/>
          </a:xfrm>
          <a:prstGeom prst="rect">
            <a:avLst/>
          </a:prstGeom>
        </p:spPr>
      </p:pic>
      <p:sp>
        <p:nvSpPr>
          <p:cNvPr id="26" name="Text 21">
            <a:extLst>
              <a:ext uri="{FF2B5EF4-FFF2-40B4-BE49-F238E27FC236}">
                <a16:creationId xmlns:a16="http://schemas.microsoft.com/office/drawing/2014/main" id="{7AB6D04C-41CC-34DD-971A-390E2BF67717}"/>
              </a:ext>
            </a:extLst>
          </p:cNvPr>
          <p:cNvSpPr/>
          <p:nvPr/>
        </p:nvSpPr>
        <p:spPr>
          <a:xfrm>
            <a:off x="6738342" y="2664367"/>
            <a:ext cx="1545832" cy="226600"/>
          </a:xfrm>
          <a:prstGeom prst="rect">
            <a:avLst/>
          </a:prstGeom>
          <a:noFill/>
          <a:ln/>
        </p:spPr>
        <p:txBody>
          <a:bodyPr wrap="square" lIns="0" tIns="0" rIns="0" bIns="0" rtlCol="0" anchor="t">
            <a:spAutoFit/>
          </a:bodyPr>
          <a:lstStyle/>
          <a:p>
            <a:pPr>
              <a:lnSpc>
                <a:spcPts val="900"/>
              </a:lnSpc>
            </a:pPr>
            <a:r>
              <a:rPr lang="en-US" sz="727" i="1" dirty="0" err="1">
                <a:solidFill>
                  <a:srgbClr val="666666"/>
                </a:solidFill>
              </a:rPr>
              <a:t>图</a:t>
            </a:r>
            <a:r>
              <a:rPr lang="en-US" sz="727" i="1" dirty="0">
                <a:solidFill>
                  <a:srgbClr val="666666"/>
                </a:solidFill>
              </a:rPr>
              <a:t> </a:t>
            </a:r>
            <a:r>
              <a:rPr lang="en-US" altLang="zh-CN" sz="727" i="1" dirty="0">
                <a:solidFill>
                  <a:srgbClr val="666666"/>
                </a:solidFill>
              </a:rPr>
              <a:t>2</a:t>
            </a:r>
            <a:r>
              <a:rPr lang="en-US" sz="727" i="1" dirty="0">
                <a:solidFill>
                  <a:srgbClr val="666666"/>
                </a:solidFill>
              </a:rPr>
              <a:t>. </a:t>
            </a:r>
            <a:r>
              <a:rPr lang="en-US" altLang="zh-CN" sz="727" i="1" dirty="0">
                <a:solidFill>
                  <a:srgbClr val="666666"/>
                </a:solidFill>
              </a:rPr>
              <a:t>Oxford-IIIT Pets</a:t>
            </a:r>
            <a:r>
              <a:rPr lang="zh-CN" altLang="en-US" sz="727" i="1" dirty="0">
                <a:solidFill>
                  <a:srgbClr val="666666"/>
                </a:solidFill>
              </a:rPr>
              <a:t>数据集部分图像</a:t>
            </a:r>
            <a:r>
              <a:rPr lang="en-US" altLang="zh-CN" sz="727" i="1" dirty="0">
                <a:solidFill>
                  <a:srgbClr val="666666"/>
                </a:solidFill>
              </a:rPr>
              <a:t>:</a:t>
            </a:r>
          </a:p>
          <a:p>
            <a:pPr lvl="0">
              <a:lnSpc>
                <a:spcPts val="900"/>
              </a:lnSpc>
            </a:pPr>
            <a:endParaRPr lang="en-US" sz="727" dirty="0"/>
          </a:p>
        </p:txBody>
      </p:sp>
      <p:graphicFrame>
        <p:nvGraphicFramePr>
          <p:cNvPr id="29" name="表格 28">
            <a:extLst>
              <a:ext uri="{FF2B5EF4-FFF2-40B4-BE49-F238E27FC236}">
                <a16:creationId xmlns:a16="http://schemas.microsoft.com/office/drawing/2014/main" id="{5C1CCD10-5968-4949-BBEF-6F9B98A756F6}"/>
              </a:ext>
            </a:extLst>
          </p:cNvPr>
          <p:cNvGraphicFramePr>
            <a:graphicFrameLocks noGrp="1"/>
          </p:cNvGraphicFramePr>
          <p:nvPr>
            <p:extLst>
              <p:ext uri="{D42A27DB-BD31-4B8C-83A1-F6EECF244321}">
                <p14:modId xmlns:p14="http://schemas.microsoft.com/office/powerpoint/2010/main" val="1848763202"/>
              </p:ext>
            </p:extLst>
          </p:nvPr>
        </p:nvGraphicFramePr>
        <p:xfrm>
          <a:off x="571500" y="2238030"/>
          <a:ext cx="5621655" cy="914400"/>
        </p:xfrm>
        <a:graphic>
          <a:graphicData uri="http://schemas.openxmlformats.org/drawingml/2006/table">
            <a:tbl>
              <a:tblPr firstRow="1" firstCol="1" bandRow="1">
                <a:tableStyleId>{5C22544A-7EE6-4342-B048-85BDC9FD1C3A}</a:tableStyleId>
              </a:tblPr>
              <a:tblGrid>
                <a:gridCol w="975360">
                  <a:extLst>
                    <a:ext uri="{9D8B030D-6E8A-4147-A177-3AD203B41FA5}">
                      <a16:colId xmlns:a16="http://schemas.microsoft.com/office/drawing/2014/main" val="4046565470"/>
                    </a:ext>
                  </a:extLst>
                </a:gridCol>
                <a:gridCol w="952500">
                  <a:extLst>
                    <a:ext uri="{9D8B030D-6E8A-4147-A177-3AD203B41FA5}">
                      <a16:colId xmlns:a16="http://schemas.microsoft.com/office/drawing/2014/main" val="813155434"/>
                    </a:ext>
                  </a:extLst>
                </a:gridCol>
                <a:gridCol w="952500">
                  <a:extLst>
                    <a:ext uri="{9D8B030D-6E8A-4147-A177-3AD203B41FA5}">
                      <a16:colId xmlns:a16="http://schemas.microsoft.com/office/drawing/2014/main" val="1616363018"/>
                    </a:ext>
                  </a:extLst>
                </a:gridCol>
                <a:gridCol w="1210945">
                  <a:extLst>
                    <a:ext uri="{9D8B030D-6E8A-4147-A177-3AD203B41FA5}">
                      <a16:colId xmlns:a16="http://schemas.microsoft.com/office/drawing/2014/main" val="4021204976"/>
                    </a:ext>
                  </a:extLst>
                </a:gridCol>
                <a:gridCol w="1530350">
                  <a:extLst>
                    <a:ext uri="{9D8B030D-6E8A-4147-A177-3AD203B41FA5}">
                      <a16:colId xmlns:a16="http://schemas.microsoft.com/office/drawing/2014/main" val="2720553722"/>
                    </a:ext>
                  </a:extLst>
                </a:gridCol>
              </a:tblGrid>
              <a:tr h="0">
                <a:tc>
                  <a:txBody>
                    <a:bodyPr/>
                    <a:lstStyle/>
                    <a:p>
                      <a:pPr algn="just">
                        <a:buNone/>
                      </a:pPr>
                      <a:r>
                        <a:rPr lang="zh-CN" sz="1200" kern="100">
                          <a:effectLst/>
                        </a:rPr>
                        <a:t>数据集名称</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zh-CN" sz="1200" kern="100">
                          <a:effectLst/>
                        </a:rPr>
                        <a:t>类别数量</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zh-CN" sz="1200" kern="100">
                          <a:effectLst/>
                        </a:rPr>
                        <a:t>图像数量</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zh-CN" sz="1200" kern="100">
                          <a:effectLst/>
                        </a:rPr>
                        <a:t>主要特点</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zh-CN" sz="1200" kern="100" dirty="0">
                          <a:effectLst/>
                        </a:rPr>
                        <a:t>适用性</a:t>
                      </a:r>
                      <a:endParaRPr lang="zh-CN" sz="1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618070042"/>
                  </a:ext>
                </a:extLst>
              </a:tr>
              <a:tr h="0">
                <a:tc>
                  <a:txBody>
                    <a:bodyPr/>
                    <a:lstStyle/>
                    <a:p>
                      <a:pPr algn="just">
                        <a:buNone/>
                      </a:pPr>
                      <a:r>
                        <a:rPr lang="en-US" sz="1200" kern="100" dirty="0">
                          <a:effectLst/>
                        </a:rPr>
                        <a:t>Oxford-IIIT Pets</a:t>
                      </a:r>
                      <a:endParaRPr lang="zh-CN" sz="12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en-US" sz="1200" kern="100">
                          <a:effectLst/>
                        </a:rPr>
                        <a:t>37 </a:t>
                      </a:r>
                      <a:r>
                        <a:rPr lang="zh-CN" sz="1200" kern="100">
                          <a:effectLst/>
                        </a:rPr>
                        <a:t>个品种</a:t>
                      </a:r>
                      <a:r>
                        <a:rPr lang="en-US" sz="1200" kern="100">
                          <a:effectLst/>
                        </a:rPr>
                        <a:t> (25 </a:t>
                      </a:r>
                      <a:r>
                        <a:rPr lang="zh-CN" sz="1200" kern="100">
                          <a:effectLst/>
                        </a:rPr>
                        <a:t>狗</a:t>
                      </a:r>
                      <a:r>
                        <a:rPr lang="en-US" sz="1200" kern="100">
                          <a:effectLst/>
                        </a:rPr>
                        <a:t>, 12 </a:t>
                      </a:r>
                      <a:r>
                        <a:rPr lang="zh-CN" sz="1200" kern="100">
                          <a:effectLst/>
                        </a:rPr>
                        <a:t>猫</a:t>
                      </a:r>
                      <a:r>
                        <a:rPr lang="en-US" sz="1200" kern="100">
                          <a:effectLst/>
                        </a:rPr>
                        <a:t>)</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en-US" sz="1200" kern="100">
                          <a:effectLst/>
                        </a:rPr>
                        <a:t>7,349 </a:t>
                      </a:r>
                      <a:r>
                        <a:rPr lang="zh-CN" sz="1200" kern="100">
                          <a:effectLst/>
                        </a:rPr>
                        <a:t>张</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zh-CN" sz="1200" kern="100">
                          <a:effectLst/>
                        </a:rPr>
                        <a:t>包含猫和狗，提供头部</a:t>
                      </a:r>
                      <a:r>
                        <a:rPr lang="en-US" sz="1200" kern="100">
                          <a:effectLst/>
                        </a:rPr>
                        <a:t> ROI </a:t>
                      </a:r>
                      <a:r>
                        <a:rPr lang="zh-CN" sz="1200" kern="100">
                          <a:effectLst/>
                        </a:rPr>
                        <a:t>和分割掩码，适合研究局部特征提取。</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buNone/>
                      </a:pPr>
                      <a:r>
                        <a:rPr lang="zh-CN" sz="1200" kern="100" dirty="0">
                          <a:effectLst/>
                        </a:rPr>
                        <a:t>验证模型在跨物种细粒度分类和局部特征引导方面的有效性。</a:t>
                      </a:r>
                      <a:endParaRPr lang="zh-CN" sz="1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55113204"/>
                  </a:ext>
                </a:extLst>
              </a:tr>
            </a:tbl>
          </a:graphicData>
        </a:graphic>
      </p:graphicFrame>
      <p:sp>
        <p:nvSpPr>
          <p:cNvPr id="31" name="文本框 30">
            <a:extLst>
              <a:ext uri="{FF2B5EF4-FFF2-40B4-BE49-F238E27FC236}">
                <a16:creationId xmlns:a16="http://schemas.microsoft.com/office/drawing/2014/main" id="{DDFA06A2-57BF-99DE-DAC9-538C831F92CC}"/>
              </a:ext>
            </a:extLst>
          </p:cNvPr>
          <p:cNvSpPr txBox="1"/>
          <p:nvPr/>
        </p:nvSpPr>
        <p:spPr>
          <a:xfrm>
            <a:off x="558873" y="1552540"/>
            <a:ext cx="3702734" cy="523220"/>
          </a:xfrm>
          <a:prstGeom prst="rect">
            <a:avLst/>
          </a:prstGeom>
          <a:noFill/>
        </p:spPr>
        <p:txBody>
          <a:bodyPr wrap="square">
            <a:spAutoFit/>
          </a:bodyPr>
          <a:lstStyle/>
          <a:p>
            <a:r>
              <a:rPr lang="zh-CN" altLang="zh-CN" sz="1400" kern="100" dirty="0">
                <a:effectLst/>
                <a:ea typeface="宋体" panose="02010600030101010101" pitchFamily="2" charset="-122"/>
                <a:cs typeface="Times New Roman" panose="02020603050405020304" pitchFamily="18" charset="0"/>
              </a:rPr>
              <a:t>本研究将采用国际公认的细粒度宠物分类数据集，以确保实验结果的可靠性和可比性</a:t>
            </a:r>
            <a:r>
              <a:rPr lang="zh-CN" altLang="en-US" sz="1400" kern="100" dirty="0">
                <a:effectLst/>
                <a:ea typeface="宋体" panose="02010600030101010101" pitchFamily="2" charset="-122"/>
                <a:cs typeface="Times New Roman" panose="02020603050405020304" pitchFamily="18" charset="0"/>
              </a:rPr>
              <a:t>。</a:t>
            </a:r>
            <a:r>
              <a:rPr lang="zh-CN" altLang="zh-CN" sz="1400" dirty="0">
                <a:effectLst/>
              </a:rPr>
              <a:t> </a:t>
            </a:r>
            <a:endParaRPr lang="zh-CN" alt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E2891-AEA1-D07F-4711-344176DD9194}"/>
            </a:ext>
          </a:extLst>
        </p:cNvPr>
        <p:cNvGrpSpPr/>
        <p:nvPr/>
      </p:nvGrpSpPr>
      <p:grpSpPr>
        <a:xfrm>
          <a:off x="0" y="0"/>
          <a:ext cx="0" cy="0"/>
          <a:chOff x="0" y="0"/>
          <a:chExt cx="0" cy="0"/>
        </a:xfrm>
      </p:grpSpPr>
      <p:pic>
        <p:nvPicPr>
          <p:cNvPr id="23" name="Image 0" descr="preencoded.png">
            <a:extLst>
              <a:ext uri="{FF2B5EF4-FFF2-40B4-BE49-F238E27FC236}">
                <a16:creationId xmlns:a16="http://schemas.microsoft.com/office/drawing/2014/main" id="{12668305-0F0C-3A12-7A8F-E06B87CED9D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E00654C9-82EA-38F0-D244-5C4BF9161676}"/>
              </a:ext>
            </a:extLst>
          </p:cNvPr>
          <p:cNvSpPr/>
          <p:nvPr/>
        </p:nvSpPr>
        <p:spPr>
          <a:xfrm>
            <a:off x="571500" y="0"/>
            <a:ext cx="2306929" cy="1050550"/>
          </a:xfrm>
          <a:prstGeom prst="rect">
            <a:avLst/>
          </a:prstGeom>
          <a:solidFill>
            <a:srgbClr val="000000">
              <a:alpha val="0"/>
            </a:srgbClr>
          </a:solidFill>
          <a:ln/>
        </p:spPr>
      </p:sp>
      <p:sp>
        <p:nvSpPr>
          <p:cNvPr id="4" name="Shape 1">
            <a:extLst>
              <a:ext uri="{FF2B5EF4-FFF2-40B4-BE49-F238E27FC236}">
                <a16:creationId xmlns:a16="http://schemas.microsoft.com/office/drawing/2014/main" id="{3621EB1E-5FA0-8D1B-4702-C056C8891980}"/>
              </a:ext>
            </a:extLst>
          </p:cNvPr>
          <p:cNvSpPr/>
          <p:nvPr/>
        </p:nvSpPr>
        <p:spPr>
          <a:xfrm>
            <a:off x="571500" y="1021975"/>
            <a:ext cx="2306929" cy="28575"/>
          </a:xfrm>
          <a:prstGeom prst="rect">
            <a:avLst/>
          </a:prstGeom>
          <a:solidFill>
            <a:srgbClr val="1A1A1A"/>
          </a:solidFill>
          <a:ln/>
        </p:spPr>
      </p:sp>
      <p:sp>
        <p:nvSpPr>
          <p:cNvPr id="5" name="Text 2">
            <a:extLst>
              <a:ext uri="{FF2B5EF4-FFF2-40B4-BE49-F238E27FC236}">
                <a16:creationId xmlns:a16="http://schemas.microsoft.com/office/drawing/2014/main" id="{6D3C2FC7-AFBA-C311-0771-7CEE7F54AC17}"/>
              </a:ext>
            </a:extLst>
          </p:cNvPr>
          <p:cNvSpPr/>
          <p:nvPr/>
        </p:nvSpPr>
        <p:spPr>
          <a:xfrm>
            <a:off x="571500" y="618353"/>
            <a:ext cx="1077411"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a:t>
            </a:r>
            <a:r>
              <a:rPr lang="en-US" altLang="zh-CN" sz="1602" b="1" kern="0" spc="2" dirty="0">
                <a:solidFill>
                  <a:srgbClr val="1A1A1A"/>
                </a:solidFill>
              </a:rPr>
              <a:t>5</a:t>
            </a:r>
            <a:r>
              <a:rPr lang="en-US" sz="1602" b="1" kern="0" spc="2" dirty="0">
                <a:solidFill>
                  <a:srgbClr val="1A1A1A"/>
                </a:solidFill>
              </a:rPr>
              <a:t> </a:t>
            </a:r>
            <a:r>
              <a:rPr lang="en-US" sz="1602" b="1" kern="0" spc="2" dirty="0" err="1">
                <a:solidFill>
                  <a:srgbClr val="1A1A1A"/>
                </a:solidFill>
              </a:rPr>
              <a:t>研究方法</a:t>
            </a:r>
            <a:endParaRPr lang="en-US" sz="1602" dirty="0"/>
          </a:p>
        </p:txBody>
      </p:sp>
      <p:sp>
        <p:nvSpPr>
          <p:cNvPr id="31" name="文本框 30">
            <a:extLst>
              <a:ext uri="{FF2B5EF4-FFF2-40B4-BE49-F238E27FC236}">
                <a16:creationId xmlns:a16="http://schemas.microsoft.com/office/drawing/2014/main" id="{78662B38-6E60-AF9F-B69B-0C7BE9D81C3E}"/>
              </a:ext>
            </a:extLst>
          </p:cNvPr>
          <p:cNvSpPr txBox="1"/>
          <p:nvPr/>
        </p:nvSpPr>
        <p:spPr>
          <a:xfrm>
            <a:off x="571499" y="1241462"/>
            <a:ext cx="4537395" cy="253916"/>
          </a:xfrm>
          <a:prstGeom prst="rect">
            <a:avLst/>
          </a:prstGeom>
          <a:noFill/>
        </p:spPr>
        <p:txBody>
          <a:bodyPr wrap="square">
            <a:spAutoFit/>
          </a:bodyPr>
          <a:lstStyle/>
          <a:p>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本研究基于 </a:t>
            </a:r>
            <a:r>
              <a:rPr lang="en-US" altLang="zh-CN" sz="1050" kern="100" dirty="0">
                <a:effectLst/>
                <a:latin typeface="Calibri" panose="020F0502020204030204" pitchFamily="34" charset="0"/>
                <a:ea typeface="宋体" panose="02010600030101010101" pitchFamily="2" charset="-122"/>
                <a:cs typeface="Calibri" panose="020F0502020204030204" pitchFamily="34" charset="0"/>
              </a:rPr>
              <a:t>CLIP </a:t>
            </a:r>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模型，主要以 </a:t>
            </a:r>
            <a:r>
              <a:rPr lang="en-US" altLang="zh-CN" sz="1050" kern="100" dirty="0" err="1">
                <a:effectLst/>
                <a:latin typeface="Calibri" panose="020F0502020204030204" pitchFamily="34" charset="0"/>
                <a:ea typeface="宋体" panose="02010600030101010101" pitchFamily="2" charset="-122"/>
                <a:cs typeface="Calibri" panose="020F0502020204030204" pitchFamily="34" charset="0"/>
              </a:rPr>
              <a:t>CoOp</a:t>
            </a:r>
            <a:r>
              <a:rPr lang="en-US" altLang="zh-CN" sz="1050" kern="100" dirty="0">
                <a:effectLst/>
                <a:latin typeface="Calibri" panose="020F0502020204030204" pitchFamily="34" charset="0"/>
                <a:ea typeface="宋体" panose="02010600030101010101" pitchFamily="2" charset="-122"/>
                <a:cs typeface="Calibri" panose="020F0502020204030204" pitchFamily="34" charset="0"/>
              </a:rPr>
              <a:t> </a:t>
            </a:r>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和 </a:t>
            </a:r>
            <a:r>
              <a:rPr lang="en-US" altLang="zh-CN" sz="1050" kern="100" dirty="0" err="1">
                <a:effectLst/>
                <a:latin typeface="Calibri" panose="020F0502020204030204" pitchFamily="34" charset="0"/>
                <a:ea typeface="宋体" panose="02010600030101010101" pitchFamily="2" charset="-122"/>
                <a:cs typeface="Calibri" panose="020F0502020204030204" pitchFamily="34" charset="0"/>
              </a:rPr>
              <a:t>CoCoOp</a:t>
            </a:r>
            <a:r>
              <a:rPr lang="en-US" altLang="zh-CN" sz="1050" kern="100" dirty="0">
                <a:effectLst/>
                <a:latin typeface="Calibri" panose="020F0502020204030204" pitchFamily="34" charset="0"/>
                <a:ea typeface="宋体" panose="02010600030101010101" pitchFamily="2" charset="-122"/>
                <a:cs typeface="Calibri" panose="020F0502020204030204" pitchFamily="34" charset="0"/>
              </a:rPr>
              <a:t> </a:t>
            </a:r>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作为基准模型进行改进。</a:t>
            </a:r>
            <a:endParaRPr lang="zh-CN" altLang="en-US" sz="1050" dirty="0">
              <a:latin typeface="Calibri" panose="020F0502020204030204" pitchFamily="34" charset="0"/>
              <a:cs typeface="Calibri" panose="020F0502020204030204" pitchFamily="34" charset="0"/>
            </a:endParaRPr>
          </a:p>
        </p:txBody>
      </p:sp>
      <p:sp>
        <p:nvSpPr>
          <p:cNvPr id="2" name="Text 5">
            <a:extLst>
              <a:ext uri="{FF2B5EF4-FFF2-40B4-BE49-F238E27FC236}">
                <a16:creationId xmlns:a16="http://schemas.microsoft.com/office/drawing/2014/main" id="{6EA23BA0-50EA-046A-0D44-BD1233CD127E}"/>
              </a:ext>
            </a:extLst>
          </p:cNvPr>
          <p:cNvSpPr/>
          <p:nvPr/>
        </p:nvSpPr>
        <p:spPr>
          <a:xfrm>
            <a:off x="571500" y="2253699"/>
            <a:ext cx="863017" cy="192360"/>
          </a:xfrm>
          <a:prstGeom prst="rect">
            <a:avLst/>
          </a:prstGeom>
          <a:noFill/>
          <a:ln/>
        </p:spPr>
        <p:txBody>
          <a:bodyPr wrap="square" lIns="0" tIns="0" rIns="0" bIns="0" rtlCol="0" anchor="t">
            <a:spAutoFit/>
          </a:bodyPr>
          <a:lstStyle/>
          <a:p>
            <a:pPr marL="0" indent="0" algn="l">
              <a:lnSpc>
                <a:spcPts val="1500"/>
              </a:lnSpc>
              <a:buNone/>
            </a:pPr>
            <a:r>
              <a:rPr lang="en-US" sz="1400" b="1" dirty="0" err="1">
                <a:solidFill>
                  <a:srgbClr val="1A1A1A"/>
                </a:solidFill>
              </a:rPr>
              <a:t>CoOp</a:t>
            </a:r>
            <a:endParaRPr lang="en-US" sz="1400" dirty="0"/>
          </a:p>
        </p:txBody>
      </p:sp>
      <p:sp>
        <p:nvSpPr>
          <p:cNvPr id="6" name="Text 6">
            <a:extLst>
              <a:ext uri="{FF2B5EF4-FFF2-40B4-BE49-F238E27FC236}">
                <a16:creationId xmlns:a16="http://schemas.microsoft.com/office/drawing/2014/main" id="{A2DE1DBE-60B6-3896-E812-64067F7FC437}"/>
              </a:ext>
            </a:extLst>
          </p:cNvPr>
          <p:cNvSpPr/>
          <p:nvPr/>
        </p:nvSpPr>
        <p:spPr>
          <a:xfrm>
            <a:off x="571500" y="2662603"/>
            <a:ext cx="3786188" cy="1006750"/>
          </a:xfrm>
          <a:prstGeom prst="rect">
            <a:avLst/>
          </a:prstGeom>
          <a:noFill/>
          <a:ln/>
        </p:spPr>
        <p:txBody>
          <a:bodyPr wrap="square" lIns="0" tIns="0" rIns="0" bIns="0" rtlCol="0" anchor="t">
            <a:spAutoFit/>
          </a:bodyPr>
          <a:lstStyle/>
          <a:p>
            <a:pPr marL="0" indent="0" algn="l">
              <a:lnSpc>
                <a:spcPts val="1600"/>
              </a:lnSpc>
              <a:buNone/>
            </a:pPr>
            <a:r>
              <a:rPr lang="zh-CN" altLang="en-US" sz="942" dirty="0">
                <a:solidFill>
                  <a:srgbClr val="333333"/>
                </a:solidFill>
                <a:latin typeface="Calibri" panose="020F0502020204030204" pitchFamily="34" charset="0"/>
                <a:cs typeface="Calibri" panose="020F0502020204030204" pitchFamily="34" charset="0"/>
              </a:rPr>
              <a:t>旨在通过优化连续的提示向量来替代传统的手工设计提示词。它将提示模板中的上下文词汇替换为一组可学习的连续向量。在训练过程中，</a:t>
            </a:r>
            <a:r>
              <a:rPr lang="en-US" sz="942" dirty="0">
                <a:solidFill>
                  <a:srgbClr val="333333"/>
                </a:solidFill>
                <a:latin typeface="Calibri" panose="020F0502020204030204" pitchFamily="34" charset="0"/>
                <a:cs typeface="Calibri" panose="020F0502020204030204" pitchFamily="34" charset="0"/>
              </a:rPr>
              <a:t>CLIP </a:t>
            </a:r>
            <a:r>
              <a:rPr lang="zh-CN" altLang="en-US" sz="942" dirty="0">
                <a:solidFill>
                  <a:srgbClr val="333333"/>
                </a:solidFill>
                <a:latin typeface="Calibri" panose="020F0502020204030204" pitchFamily="34" charset="0"/>
                <a:cs typeface="Calibri" panose="020F0502020204030204" pitchFamily="34" charset="0"/>
              </a:rPr>
              <a:t>的图像编码器和文本编码器参数被冻结，仅优化这组上下文向量。从而高效地将预训练知识迁移到下游任务。</a:t>
            </a:r>
            <a:r>
              <a:rPr lang="en-US" sz="942" dirty="0" err="1">
                <a:solidFill>
                  <a:srgbClr val="333333"/>
                </a:solidFill>
                <a:latin typeface="Calibri" panose="020F0502020204030204" pitchFamily="34" charset="0"/>
                <a:cs typeface="Calibri" panose="020F0502020204030204" pitchFamily="34" charset="0"/>
              </a:rPr>
              <a:t>CoOp</a:t>
            </a:r>
            <a:r>
              <a:rPr lang="en-US" sz="942" dirty="0">
                <a:solidFill>
                  <a:srgbClr val="333333"/>
                </a:solidFill>
                <a:latin typeface="Calibri" panose="020F0502020204030204" pitchFamily="34" charset="0"/>
                <a:cs typeface="Calibri" panose="020F0502020204030204" pitchFamily="34" charset="0"/>
              </a:rPr>
              <a:t> </a:t>
            </a:r>
            <a:r>
              <a:rPr lang="zh-CN" altLang="en-US" sz="942" dirty="0">
                <a:solidFill>
                  <a:srgbClr val="333333"/>
                </a:solidFill>
                <a:latin typeface="Calibri" panose="020F0502020204030204" pitchFamily="34" charset="0"/>
                <a:cs typeface="Calibri" panose="020F0502020204030204" pitchFamily="34" charset="0"/>
              </a:rPr>
              <a:t>的核心在于其提示是静态的，即所有输入图像共享同一组优化的提示向量。</a:t>
            </a:r>
          </a:p>
        </p:txBody>
      </p:sp>
      <p:sp>
        <p:nvSpPr>
          <p:cNvPr id="9" name="Text 3">
            <a:extLst>
              <a:ext uri="{FF2B5EF4-FFF2-40B4-BE49-F238E27FC236}">
                <a16:creationId xmlns:a16="http://schemas.microsoft.com/office/drawing/2014/main" id="{087BC368-315F-3D41-08FB-42D100AE709F}"/>
              </a:ext>
            </a:extLst>
          </p:cNvPr>
          <p:cNvSpPr/>
          <p:nvPr/>
        </p:nvSpPr>
        <p:spPr>
          <a:xfrm>
            <a:off x="571500" y="1592108"/>
            <a:ext cx="392292" cy="480417"/>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500"/>
                </a:solidFill>
              </a:rPr>
              <a:t>01</a:t>
            </a:r>
            <a:endParaRPr lang="en-US" sz="2436" dirty="0"/>
          </a:p>
        </p:txBody>
      </p:sp>
      <p:pic>
        <p:nvPicPr>
          <p:cNvPr id="11" name="图片 10" descr="图形用户界面, 应用程序&#10;&#10;AI 生成的内容可能不正确。">
            <a:extLst>
              <a:ext uri="{FF2B5EF4-FFF2-40B4-BE49-F238E27FC236}">
                <a16:creationId xmlns:a16="http://schemas.microsoft.com/office/drawing/2014/main" id="{2D472CB0-7792-5270-D1BB-E7CA84650F3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76335" y="410611"/>
            <a:ext cx="5578475" cy="3686175"/>
          </a:xfrm>
          <a:prstGeom prst="rect">
            <a:avLst/>
          </a:prstGeom>
          <a:noFill/>
          <a:ln>
            <a:noFill/>
          </a:ln>
        </p:spPr>
      </p:pic>
      <p:sp>
        <p:nvSpPr>
          <p:cNvPr id="12" name="Text 21">
            <a:extLst>
              <a:ext uri="{FF2B5EF4-FFF2-40B4-BE49-F238E27FC236}">
                <a16:creationId xmlns:a16="http://schemas.microsoft.com/office/drawing/2014/main" id="{E880C893-A256-A460-E1CE-21C4444FE9B0}"/>
              </a:ext>
            </a:extLst>
          </p:cNvPr>
          <p:cNvSpPr/>
          <p:nvPr/>
        </p:nvSpPr>
        <p:spPr>
          <a:xfrm>
            <a:off x="6265572" y="4096786"/>
            <a:ext cx="992033" cy="110864"/>
          </a:xfrm>
          <a:prstGeom prst="rect">
            <a:avLst/>
          </a:prstGeom>
          <a:noFill/>
          <a:ln/>
        </p:spPr>
        <p:txBody>
          <a:bodyPr wrap="square" lIns="0" tIns="0" rIns="0" bIns="0" rtlCol="0" anchor="t">
            <a:spAutoFit/>
          </a:bodyPr>
          <a:lstStyle/>
          <a:p>
            <a:pPr>
              <a:lnSpc>
                <a:spcPts val="900"/>
              </a:lnSpc>
            </a:pPr>
            <a:r>
              <a:rPr lang="en-US" sz="727" i="1" dirty="0" err="1">
                <a:solidFill>
                  <a:srgbClr val="666666"/>
                </a:solidFill>
              </a:rPr>
              <a:t>图</a:t>
            </a:r>
            <a:r>
              <a:rPr lang="en-US" sz="727" i="1" dirty="0">
                <a:solidFill>
                  <a:srgbClr val="666666"/>
                </a:solidFill>
              </a:rPr>
              <a:t> </a:t>
            </a:r>
            <a:r>
              <a:rPr lang="en-US" altLang="zh-CN" sz="727" i="1" dirty="0">
                <a:solidFill>
                  <a:srgbClr val="666666"/>
                </a:solidFill>
              </a:rPr>
              <a:t>3</a:t>
            </a:r>
            <a:r>
              <a:rPr lang="en-US" sz="727" i="1" dirty="0">
                <a:solidFill>
                  <a:srgbClr val="666666"/>
                </a:solidFill>
              </a:rPr>
              <a:t>. </a:t>
            </a:r>
            <a:r>
              <a:rPr lang="en-US" altLang="zh-CN" sz="727" i="1" dirty="0" err="1">
                <a:solidFill>
                  <a:srgbClr val="666666"/>
                </a:solidFill>
              </a:rPr>
              <a:t>CpOp</a:t>
            </a:r>
            <a:r>
              <a:rPr lang="zh-CN" altLang="en-US" sz="727" i="1" dirty="0">
                <a:solidFill>
                  <a:srgbClr val="666666"/>
                </a:solidFill>
              </a:rPr>
              <a:t>模型架构图</a:t>
            </a:r>
            <a:endParaRPr lang="en-US" sz="727" dirty="0"/>
          </a:p>
        </p:txBody>
      </p:sp>
    </p:spTree>
    <p:extLst>
      <p:ext uri="{BB962C8B-B14F-4D97-AF65-F5344CB8AC3E}">
        <p14:creationId xmlns:p14="http://schemas.microsoft.com/office/powerpoint/2010/main" val="1500377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23524-E107-4639-8FE4-0B4BFF44D4C6}"/>
            </a:ext>
          </a:extLst>
        </p:cNvPr>
        <p:cNvGrpSpPr/>
        <p:nvPr/>
      </p:nvGrpSpPr>
      <p:grpSpPr>
        <a:xfrm>
          <a:off x="0" y="0"/>
          <a:ext cx="0" cy="0"/>
          <a:chOff x="0" y="0"/>
          <a:chExt cx="0" cy="0"/>
        </a:xfrm>
      </p:grpSpPr>
      <p:pic>
        <p:nvPicPr>
          <p:cNvPr id="23" name="Image 0" descr="preencoded.png">
            <a:extLst>
              <a:ext uri="{FF2B5EF4-FFF2-40B4-BE49-F238E27FC236}">
                <a16:creationId xmlns:a16="http://schemas.microsoft.com/office/drawing/2014/main" id="{A7BF98F1-359D-1FC7-22CA-58CB04AEB29B}"/>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4509EF3F-6485-A3D6-A42A-04847E7C16FD}"/>
              </a:ext>
            </a:extLst>
          </p:cNvPr>
          <p:cNvSpPr/>
          <p:nvPr/>
        </p:nvSpPr>
        <p:spPr>
          <a:xfrm>
            <a:off x="571500" y="0"/>
            <a:ext cx="2306929" cy="1050550"/>
          </a:xfrm>
          <a:prstGeom prst="rect">
            <a:avLst/>
          </a:prstGeom>
          <a:solidFill>
            <a:srgbClr val="000000">
              <a:alpha val="0"/>
            </a:srgbClr>
          </a:solidFill>
          <a:ln/>
        </p:spPr>
      </p:sp>
      <p:sp>
        <p:nvSpPr>
          <p:cNvPr id="4" name="Shape 1">
            <a:extLst>
              <a:ext uri="{FF2B5EF4-FFF2-40B4-BE49-F238E27FC236}">
                <a16:creationId xmlns:a16="http://schemas.microsoft.com/office/drawing/2014/main" id="{0DFB94BA-8BF2-CCF9-2E26-C9039DC780FD}"/>
              </a:ext>
            </a:extLst>
          </p:cNvPr>
          <p:cNvSpPr/>
          <p:nvPr/>
        </p:nvSpPr>
        <p:spPr>
          <a:xfrm>
            <a:off x="571500" y="1021975"/>
            <a:ext cx="2306929" cy="28575"/>
          </a:xfrm>
          <a:prstGeom prst="rect">
            <a:avLst/>
          </a:prstGeom>
          <a:solidFill>
            <a:srgbClr val="1A1A1A"/>
          </a:solidFill>
          <a:ln/>
        </p:spPr>
      </p:sp>
      <p:sp>
        <p:nvSpPr>
          <p:cNvPr id="5" name="Text 2">
            <a:extLst>
              <a:ext uri="{FF2B5EF4-FFF2-40B4-BE49-F238E27FC236}">
                <a16:creationId xmlns:a16="http://schemas.microsoft.com/office/drawing/2014/main" id="{6F05C448-12BB-2527-F54A-BDF785FD4869}"/>
              </a:ext>
            </a:extLst>
          </p:cNvPr>
          <p:cNvSpPr/>
          <p:nvPr/>
        </p:nvSpPr>
        <p:spPr>
          <a:xfrm>
            <a:off x="571500" y="618353"/>
            <a:ext cx="1077411"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a:t>
            </a:r>
            <a:r>
              <a:rPr lang="en-US" altLang="zh-CN" sz="1602" b="1" kern="0" spc="2" dirty="0">
                <a:solidFill>
                  <a:srgbClr val="1A1A1A"/>
                </a:solidFill>
              </a:rPr>
              <a:t>5</a:t>
            </a:r>
            <a:r>
              <a:rPr lang="en-US" sz="1602" b="1" kern="0" spc="2" dirty="0">
                <a:solidFill>
                  <a:srgbClr val="1A1A1A"/>
                </a:solidFill>
              </a:rPr>
              <a:t> </a:t>
            </a:r>
            <a:r>
              <a:rPr lang="en-US" sz="1602" b="1" kern="0" spc="2" dirty="0" err="1">
                <a:solidFill>
                  <a:srgbClr val="1A1A1A"/>
                </a:solidFill>
              </a:rPr>
              <a:t>研究方法</a:t>
            </a:r>
            <a:endParaRPr lang="en-US" sz="1602" dirty="0"/>
          </a:p>
        </p:txBody>
      </p:sp>
      <p:sp>
        <p:nvSpPr>
          <p:cNvPr id="31" name="文本框 30">
            <a:extLst>
              <a:ext uri="{FF2B5EF4-FFF2-40B4-BE49-F238E27FC236}">
                <a16:creationId xmlns:a16="http://schemas.microsoft.com/office/drawing/2014/main" id="{54B034F3-8E12-5E5A-1881-2BDB02D7AA75}"/>
              </a:ext>
            </a:extLst>
          </p:cNvPr>
          <p:cNvSpPr txBox="1"/>
          <p:nvPr/>
        </p:nvSpPr>
        <p:spPr>
          <a:xfrm>
            <a:off x="571500" y="1241462"/>
            <a:ext cx="4529006" cy="253916"/>
          </a:xfrm>
          <a:prstGeom prst="rect">
            <a:avLst/>
          </a:prstGeom>
          <a:noFill/>
        </p:spPr>
        <p:txBody>
          <a:bodyPr wrap="square">
            <a:spAutoFit/>
          </a:bodyPr>
          <a:lstStyle/>
          <a:p>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本研究基于 </a:t>
            </a:r>
            <a:r>
              <a:rPr lang="en-US" altLang="zh-CN" sz="1050" kern="100" dirty="0">
                <a:effectLst/>
                <a:latin typeface="Calibri" panose="020F0502020204030204" pitchFamily="34" charset="0"/>
                <a:ea typeface="宋体" panose="02010600030101010101" pitchFamily="2" charset="-122"/>
                <a:cs typeface="Calibri" panose="020F0502020204030204" pitchFamily="34" charset="0"/>
              </a:rPr>
              <a:t>CLIP </a:t>
            </a:r>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模型，主要以 </a:t>
            </a:r>
            <a:r>
              <a:rPr lang="en-US" altLang="zh-CN" sz="1050" kern="100" dirty="0" err="1">
                <a:effectLst/>
                <a:latin typeface="Calibri" panose="020F0502020204030204" pitchFamily="34" charset="0"/>
                <a:ea typeface="宋体" panose="02010600030101010101" pitchFamily="2" charset="-122"/>
                <a:cs typeface="Calibri" panose="020F0502020204030204" pitchFamily="34" charset="0"/>
              </a:rPr>
              <a:t>CoOp</a:t>
            </a:r>
            <a:r>
              <a:rPr lang="en-US" altLang="zh-CN" sz="1050" kern="100" dirty="0">
                <a:effectLst/>
                <a:latin typeface="Calibri" panose="020F0502020204030204" pitchFamily="34" charset="0"/>
                <a:ea typeface="宋体" panose="02010600030101010101" pitchFamily="2" charset="-122"/>
                <a:cs typeface="Calibri" panose="020F0502020204030204" pitchFamily="34" charset="0"/>
              </a:rPr>
              <a:t> </a:t>
            </a:r>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和 </a:t>
            </a:r>
            <a:r>
              <a:rPr lang="en-US" altLang="zh-CN" sz="1050" kern="100" dirty="0" err="1">
                <a:effectLst/>
                <a:latin typeface="Calibri" panose="020F0502020204030204" pitchFamily="34" charset="0"/>
                <a:ea typeface="宋体" panose="02010600030101010101" pitchFamily="2" charset="-122"/>
                <a:cs typeface="Calibri" panose="020F0502020204030204" pitchFamily="34" charset="0"/>
              </a:rPr>
              <a:t>CoCoOp</a:t>
            </a:r>
            <a:r>
              <a:rPr lang="en-US" altLang="zh-CN" sz="1050" kern="100" dirty="0">
                <a:effectLst/>
                <a:latin typeface="Calibri" panose="020F0502020204030204" pitchFamily="34" charset="0"/>
                <a:ea typeface="宋体" panose="02010600030101010101" pitchFamily="2" charset="-122"/>
                <a:cs typeface="Calibri" panose="020F0502020204030204" pitchFamily="34" charset="0"/>
              </a:rPr>
              <a:t> </a:t>
            </a:r>
            <a:r>
              <a:rPr lang="zh-CN" altLang="en-US" sz="1050" kern="100" dirty="0">
                <a:effectLst/>
                <a:latin typeface="Calibri" panose="020F0502020204030204" pitchFamily="34" charset="0"/>
                <a:ea typeface="宋体" panose="02010600030101010101" pitchFamily="2" charset="-122"/>
                <a:cs typeface="Calibri" panose="020F0502020204030204" pitchFamily="34" charset="0"/>
              </a:rPr>
              <a:t>作为基准模型进行改进。</a:t>
            </a:r>
            <a:endParaRPr lang="zh-CN" altLang="en-US" sz="1050" dirty="0">
              <a:latin typeface="Calibri" panose="020F0502020204030204" pitchFamily="34" charset="0"/>
              <a:cs typeface="Calibri" panose="020F0502020204030204" pitchFamily="34" charset="0"/>
            </a:endParaRPr>
          </a:p>
        </p:txBody>
      </p:sp>
      <p:sp>
        <p:nvSpPr>
          <p:cNvPr id="2" name="Text 5">
            <a:extLst>
              <a:ext uri="{FF2B5EF4-FFF2-40B4-BE49-F238E27FC236}">
                <a16:creationId xmlns:a16="http://schemas.microsoft.com/office/drawing/2014/main" id="{C8A304E3-CD60-45DE-95A7-981E98712846}"/>
              </a:ext>
            </a:extLst>
          </p:cNvPr>
          <p:cNvSpPr/>
          <p:nvPr/>
        </p:nvSpPr>
        <p:spPr>
          <a:xfrm>
            <a:off x="571500" y="2253699"/>
            <a:ext cx="863017" cy="192360"/>
          </a:xfrm>
          <a:prstGeom prst="rect">
            <a:avLst/>
          </a:prstGeom>
          <a:noFill/>
          <a:ln/>
        </p:spPr>
        <p:txBody>
          <a:bodyPr wrap="square" lIns="0" tIns="0" rIns="0" bIns="0" rtlCol="0" anchor="t">
            <a:spAutoFit/>
          </a:bodyPr>
          <a:lstStyle/>
          <a:p>
            <a:pPr marL="0" indent="0" algn="l">
              <a:lnSpc>
                <a:spcPts val="1500"/>
              </a:lnSpc>
              <a:buNone/>
            </a:pPr>
            <a:r>
              <a:rPr lang="en-US" sz="1400" b="1" dirty="0" err="1">
                <a:solidFill>
                  <a:srgbClr val="1A1A1A"/>
                </a:solidFill>
              </a:rPr>
              <a:t>CoCoOp</a:t>
            </a:r>
            <a:endParaRPr lang="en-US" sz="1400" dirty="0"/>
          </a:p>
        </p:txBody>
      </p:sp>
      <p:sp>
        <p:nvSpPr>
          <p:cNvPr id="6" name="Text 6">
            <a:extLst>
              <a:ext uri="{FF2B5EF4-FFF2-40B4-BE49-F238E27FC236}">
                <a16:creationId xmlns:a16="http://schemas.microsoft.com/office/drawing/2014/main" id="{CE7F2C3D-CA9E-A13A-37E5-C4DFE8FFE3F0}"/>
              </a:ext>
            </a:extLst>
          </p:cNvPr>
          <p:cNvSpPr/>
          <p:nvPr/>
        </p:nvSpPr>
        <p:spPr>
          <a:xfrm>
            <a:off x="571500" y="2662603"/>
            <a:ext cx="3786188" cy="1417119"/>
          </a:xfrm>
          <a:prstGeom prst="rect">
            <a:avLst/>
          </a:prstGeom>
          <a:noFill/>
          <a:ln/>
        </p:spPr>
        <p:txBody>
          <a:bodyPr wrap="square" lIns="0" tIns="0" rIns="0" bIns="0" rtlCol="0" anchor="t">
            <a:spAutoFit/>
          </a:bodyPr>
          <a:lstStyle/>
          <a:p>
            <a:pPr marL="0" indent="0" algn="l">
              <a:lnSpc>
                <a:spcPts val="1600"/>
              </a:lnSpc>
              <a:buNone/>
            </a:pPr>
            <a:r>
              <a:rPr lang="zh-CN" altLang="en-US" sz="942" dirty="0">
                <a:solidFill>
                  <a:srgbClr val="333333"/>
                </a:solidFill>
                <a:latin typeface="Calibri" panose="020F0502020204030204" pitchFamily="34" charset="0"/>
                <a:cs typeface="Calibri" panose="020F0502020204030204" pitchFamily="34" charset="0"/>
              </a:rPr>
              <a:t>旨在解决 </a:t>
            </a:r>
            <a:r>
              <a:rPr lang="en-US" altLang="zh-CN" sz="942" dirty="0" err="1">
                <a:solidFill>
                  <a:srgbClr val="333333"/>
                </a:solidFill>
                <a:latin typeface="Calibri" panose="020F0502020204030204" pitchFamily="34" charset="0"/>
                <a:cs typeface="Calibri" panose="020F0502020204030204" pitchFamily="34" charset="0"/>
              </a:rPr>
              <a:t>CoOp</a:t>
            </a:r>
            <a:r>
              <a:rPr lang="en-US" altLang="zh-CN" sz="942" dirty="0">
                <a:solidFill>
                  <a:srgbClr val="333333"/>
                </a:solidFill>
                <a:latin typeface="Calibri" panose="020F0502020204030204" pitchFamily="34" charset="0"/>
                <a:cs typeface="Calibri" panose="020F0502020204030204" pitchFamily="34" charset="0"/>
              </a:rPr>
              <a:t> </a:t>
            </a:r>
            <a:r>
              <a:rPr lang="zh-CN" altLang="en-US" sz="942" dirty="0">
                <a:solidFill>
                  <a:srgbClr val="333333"/>
                </a:solidFill>
                <a:latin typeface="Calibri" panose="020F0502020204030204" pitchFamily="34" charset="0"/>
                <a:cs typeface="Calibri" panose="020F0502020204030204" pitchFamily="34" charset="0"/>
              </a:rPr>
              <a:t>在新类别或分布外数据上泛化能力不足的问题。它引入了一个轻量级的条件提示生成网络（</a:t>
            </a:r>
            <a:r>
              <a:rPr lang="en-US" altLang="zh-CN" sz="942" dirty="0">
                <a:solidFill>
                  <a:srgbClr val="333333"/>
                </a:solidFill>
                <a:latin typeface="Calibri" panose="020F0502020204030204" pitchFamily="34" charset="0"/>
                <a:cs typeface="Calibri" panose="020F0502020204030204" pitchFamily="34" charset="0"/>
              </a:rPr>
              <a:t>CPGN</a:t>
            </a:r>
            <a:r>
              <a:rPr lang="zh-CN" altLang="en-US" sz="942" dirty="0">
                <a:solidFill>
                  <a:srgbClr val="333333"/>
                </a:solidFill>
                <a:latin typeface="Calibri" panose="020F0502020204030204" pitchFamily="34" charset="0"/>
                <a:cs typeface="Calibri" panose="020F0502020204030204" pitchFamily="34" charset="0"/>
              </a:rPr>
              <a:t>），使得提示词能够根据输入图像的视觉内容动态生成。</a:t>
            </a:r>
            <a:r>
              <a:rPr lang="en-US" altLang="zh-CN" sz="942" dirty="0">
                <a:solidFill>
                  <a:srgbClr val="333333"/>
                </a:solidFill>
                <a:latin typeface="Calibri" panose="020F0502020204030204" pitchFamily="34" charset="0"/>
                <a:cs typeface="Calibri" panose="020F0502020204030204" pitchFamily="34" charset="0"/>
              </a:rPr>
              <a:t>CPGN </a:t>
            </a:r>
            <a:r>
              <a:rPr lang="zh-CN" altLang="en-US" sz="942" dirty="0">
                <a:solidFill>
                  <a:srgbClr val="333333"/>
                </a:solidFill>
                <a:latin typeface="Calibri" panose="020F0502020204030204" pitchFamily="34" charset="0"/>
                <a:cs typeface="Calibri" panose="020F0502020204030204" pitchFamily="34" charset="0"/>
              </a:rPr>
              <a:t>是一个简单的 </a:t>
            </a:r>
            <a:r>
              <a:rPr lang="en-US" altLang="zh-CN" sz="942" dirty="0">
                <a:solidFill>
                  <a:srgbClr val="333333"/>
                </a:solidFill>
                <a:latin typeface="Calibri" panose="020F0502020204030204" pitchFamily="34" charset="0"/>
                <a:cs typeface="Calibri" panose="020F0502020204030204" pitchFamily="34" charset="0"/>
              </a:rPr>
              <a:t>MLP </a:t>
            </a:r>
            <a:r>
              <a:rPr lang="zh-CN" altLang="en-US" sz="942" dirty="0">
                <a:solidFill>
                  <a:srgbClr val="333333"/>
                </a:solidFill>
                <a:latin typeface="Calibri" panose="020F0502020204030204" pitchFamily="34" charset="0"/>
                <a:cs typeface="Calibri" panose="020F0502020204030204" pitchFamily="34" charset="0"/>
              </a:rPr>
              <a:t>网络，它接收图像编码器输出的全局视觉特征，并生成一个提示向量的偏移量。最终的动态提示向量由基础可学习向量和偏移量叠加得到。这种机制使得模型能够为每个输入样本生成一个定制化的提示，显著增强了模型的适应性和泛化能力。</a:t>
            </a:r>
          </a:p>
        </p:txBody>
      </p:sp>
      <p:sp>
        <p:nvSpPr>
          <p:cNvPr id="9" name="Text 3">
            <a:extLst>
              <a:ext uri="{FF2B5EF4-FFF2-40B4-BE49-F238E27FC236}">
                <a16:creationId xmlns:a16="http://schemas.microsoft.com/office/drawing/2014/main" id="{080EB09F-6C4C-99DA-092E-913EC08D4A02}"/>
              </a:ext>
            </a:extLst>
          </p:cNvPr>
          <p:cNvSpPr/>
          <p:nvPr/>
        </p:nvSpPr>
        <p:spPr>
          <a:xfrm>
            <a:off x="571500" y="1592108"/>
            <a:ext cx="317395" cy="39023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500"/>
                </a:solidFill>
              </a:rPr>
              <a:t>0</a:t>
            </a:r>
            <a:r>
              <a:rPr lang="en-US" altLang="zh-CN" sz="2436" b="1" dirty="0">
                <a:solidFill>
                  <a:srgbClr val="FF4500"/>
                </a:solidFill>
              </a:rPr>
              <a:t>2</a:t>
            </a:r>
            <a:endParaRPr lang="en-US" sz="2436" dirty="0"/>
          </a:p>
        </p:txBody>
      </p:sp>
      <p:sp>
        <p:nvSpPr>
          <p:cNvPr id="8" name="Text 21">
            <a:extLst>
              <a:ext uri="{FF2B5EF4-FFF2-40B4-BE49-F238E27FC236}">
                <a16:creationId xmlns:a16="http://schemas.microsoft.com/office/drawing/2014/main" id="{EC337F07-D9A1-2AF7-8A91-986DB3CEE510}"/>
              </a:ext>
            </a:extLst>
          </p:cNvPr>
          <p:cNvSpPr/>
          <p:nvPr/>
        </p:nvSpPr>
        <p:spPr>
          <a:xfrm>
            <a:off x="6087045" y="3372373"/>
            <a:ext cx="1177820" cy="110864"/>
          </a:xfrm>
          <a:prstGeom prst="rect">
            <a:avLst/>
          </a:prstGeom>
          <a:noFill/>
          <a:ln/>
        </p:spPr>
        <p:txBody>
          <a:bodyPr wrap="square" lIns="0" tIns="0" rIns="0" bIns="0" rtlCol="0" anchor="t">
            <a:spAutoFit/>
          </a:bodyPr>
          <a:lstStyle/>
          <a:p>
            <a:pPr>
              <a:lnSpc>
                <a:spcPts val="900"/>
              </a:lnSpc>
            </a:pPr>
            <a:r>
              <a:rPr lang="en-US" sz="727" i="1" dirty="0" err="1">
                <a:solidFill>
                  <a:srgbClr val="666666"/>
                </a:solidFill>
              </a:rPr>
              <a:t>图</a:t>
            </a:r>
            <a:r>
              <a:rPr lang="en-US" sz="727" i="1" dirty="0">
                <a:solidFill>
                  <a:srgbClr val="666666"/>
                </a:solidFill>
              </a:rPr>
              <a:t> </a:t>
            </a:r>
            <a:r>
              <a:rPr lang="en-US" altLang="zh-CN" sz="727" i="1" dirty="0">
                <a:solidFill>
                  <a:srgbClr val="666666"/>
                </a:solidFill>
              </a:rPr>
              <a:t>4</a:t>
            </a:r>
            <a:r>
              <a:rPr lang="en-US" sz="727" i="1" dirty="0">
                <a:solidFill>
                  <a:srgbClr val="666666"/>
                </a:solidFill>
              </a:rPr>
              <a:t>. </a:t>
            </a:r>
            <a:r>
              <a:rPr lang="en-US" sz="727" i="1" dirty="0" err="1">
                <a:solidFill>
                  <a:srgbClr val="666666"/>
                </a:solidFill>
              </a:rPr>
              <a:t>Co</a:t>
            </a:r>
            <a:r>
              <a:rPr lang="en-US" altLang="zh-CN" sz="727" i="1" dirty="0" err="1">
                <a:solidFill>
                  <a:srgbClr val="666666"/>
                </a:solidFill>
              </a:rPr>
              <a:t>CpOp</a:t>
            </a:r>
            <a:r>
              <a:rPr lang="zh-CN" altLang="en-US" sz="727" i="1" dirty="0">
                <a:solidFill>
                  <a:srgbClr val="666666"/>
                </a:solidFill>
              </a:rPr>
              <a:t>模型架构图</a:t>
            </a:r>
            <a:endParaRPr lang="en-US" sz="727" dirty="0"/>
          </a:p>
        </p:txBody>
      </p:sp>
      <p:pic>
        <p:nvPicPr>
          <p:cNvPr id="11" name="图片 10" descr="图形用户界面&#10;&#10;AI 生成的内容可能不正确。">
            <a:extLst>
              <a:ext uri="{FF2B5EF4-FFF2-40B4-BE49-F238E27FC236}">
                <a16:creationId xmlns:a16="http://schemas.microsoft.com/office/drawing/2014/main" id="{8387AB2E-8C38-4BE0-AD54-4EEEEE4BC5FA}"/>
              </a:ext>
            </a:extLst>
          </p:cNvPr>
          <p:cNvPicPr>
            <a:picLocks noChangeAspect="1"/>
          </p:cNvPicPr>
          <p:nvPr/>
        </p:nvPicPr>
        <p:blipFill>
          <a:blip r:embed="rId4"/>
          <a:stretch>
            <a:fillRect/>
          </a:stretch>
        </p:blipFill>
        <p:spPr>
          <a:xfrm>
            <a:off x="4244529" y="1063778"/>
            <a:ext cx="4861751" cy="2194241"/>
          </a:xfrm>
          <a:prstGeom prst="rect">
            <a:avLst/>
          </a:prstGeom>
        </p:spPr>
      </p:pic>
    </p:spTree>
    <p:extLst>
      <p:ext uri="{BB962C8B-B14F-4D97-AF65-F5344CB8AC3E}">
        <p14:creationId xmlns:p14="http://schemas.microsoft.com/office/powerpoint/2010/main" val="1896142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571500" y="0"/>
            <a:ext cx="2549816" cy="979112"/>
          </a:xfrm>
          <a:prstGeom prst="rect">
            <a:avLst/>
          </a:prstGeom>
          <a:solidFill>
            <a:srgbClr val="000000">
              <a:alpha val="0"/>
            </a:srgbClr>
          </a:solidFill>
          <a:ln/>
        </p:spPr>
      </p:sp>
      <p:sp>
        <p:nvSpPr>
          <p:cNvPr id="4" name="Shape 1"/>
          <p:cNvSpPr/>
          <p:nvPr/>
        </p:nvSpPr>
        <p:spPr>
          <a:xfrm>
            <a:off x="571500" y="950537"/>
            <a:ext cx="2549816" cy="28575"/>
          </a:xfrm>
          <a:prstGeom prst="rect">
            <a:avLst/>
          </a:prstGeom>
          <a:solidFill>
            <a:srgbClr val="1A1A1A"/>
          </a:solidFill>
          <a:ln/>
        </p:spPr>
      </p:sp>
      <p:sp>
        <p:nvSpPr>
          <p:cNvPr id="5" name="Text 2"/>
          <p:cNvSpPr/>
          <p:nvPr/>
        </p:nvSpPr>
        <p:spPr>
          <a:xfrm>
            <a:off x="571500" y="546915"/>
            <a:ext cx="2104615" cy="264688"/>
          </a:xfrm>
          <a:prstGeom prst="rect">
            <a:avLst/>
          </a:prstGeom>
          <a:noFill/>
          <a:ln/>
        </p:spPr>
        <p:txBody>
          <a:bodyPr wrap="none" lIns="0" tIns="0" rIns="0" bIns="0" rtlCol="0" anchor="t">
            <a:spAutoFit/>
          </a:bodyPr>
          <a:lstStyle/>
          <a:p>
            <a:pPr marL="0" indent="0" algn="l">
              <a:lnSpc>
                <a:spcPts val="2200"/>
              </a:lnSpc>
              <a:buNone/>
            </a:pPr>
            <a:r>
              <a:rPr lang="en-US" sz="1602" b="1" kern="0" spc="2" dirty="0">
                <a:solidFill>
                  <a:srgbClr val="1A1A1A"/>
                </a:solidFill>
              </a:rPr>
              <a:t>0</a:t>
            </a:r>
            <a:r>
              <a:rPr lang="en-US" altLang="zh-CN" sz="1602" b="1" kern="0" spc="2" dirty="0">
                <a:solidFill>
                  <a:srgbClr val="1A1A1A"/>
                </a:solidFill>
              </a:rPr>
              <a:t>6</a:t>
            </a:r>
            <a:r>
              <a:rPr lang="en-US" sz="1602" b="1" kern="0" spc="2" dirty="0">
                <a:solidFill>
                  <a:srgbClr val="1A1A1A"/>
                </a:solidFill>
              </a:rPr>
              <a:t> 研究步骤与进度安排</a:t>
            </a:r>
            <a:endParaRPr lang="en-US" sz="1602" dirty="0"/>
          </a:p>
        </p:txBody>
      </p:sp>
      <p:sp>
        <p:nvSpPr>
          <p:cNvPr id="6" name="Text 3"/>
          <p:cNvSpPr/>
          <p:nvPr/>
        </p:nvSpPr>
        <p:spPr>
          <a:xfrm>
            <a:off x="571500" y="1372019"/>
            <a:ext cx="2524116"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4500"/>
                </a:solidFill>
              </a:rPr>
              <a:t>STEP 01</a:t>
            </a:r>
            <a:endParaRPr lang="en-US" sz="683" dirty="0"/>
          </a:p>
        </p:txBody>
      </p:sp>
      <p:sp>
        <p:nvSpPr>
          <p:cNvPr id="7" name="Text 4"/>
          <p:cNvSpPr/>
          <p:nvPr/>
        </p:nvSpPr>
        <p:spPr>
          <a:xfrm>
            <a:off x="571500" y="1543469"/>
            <a:ext cx="2524116"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1A"/>
                </a:solidFill>
              </a:rPr>
              <a:t>理论构建与数据准备</a:t>
            </a:r>
            <a:endParaRPr lang="en-US" sz="885" dirty="0"/>
          </a:p>
        </p:txBody>
      </p:sp>
      <p:sp>
        <p:nvSpPr>
          <p:cNvPr id="8" name="Text 5"/>
          <p:cNvSpPr/>
          <p:nvPr/>
        </p:nvSpPr>
        <p:spPr>
          <a:xfrm>
            <a:off x="571500" y="1804215"/>
            <a:ext cx="2524116" cy="755591"/>
          </a:xfrm>
          <a:prstGeom prst="rect">
            <a:avLst/>
          </a:prstGeom>
          <a:noFill/>
          <a:ln/>
        </p:spPr>
        <p:txBody>
          <a:bodyPr wrap="square" lIns="0" tIns="0" rIns="0" bIns="0" rtlCol="0" anchor="t">
            <a:spAutoFit/>
          </a:bodyPr>
          <a:lstStyle/>
          <a:p>
            <a:pPr>
              <a:lnSpc>
                <a:spcPts val="1200"/>
              </a:lnSpc>
            </a:pPr>
            <a:r>
              <a:rPr lang="en-US" sz="727" dirty="0">
                <a:solidFill>
                  <a:srgbClr val="333333"/>
                </a:solidFill>
                <a:latin typeface="Calibri" panose="020F0502020204030204" pitchFamily="34" charset="0"/>
                <a:cs typeface="Calibri" panose="020F0502020204030204" pitchFamily="34" charset="0"/>
              </a:rPr>
              <a:t>2026.1 - 2026.3
</a:t>
            </a:r>
            <a:r>
              <a:rPr lang="zh-CN" altLang="en-US" sz="727" dirty="0">
                <a:solidFill>
                  <a:srgbClr val="333333"/>
                </a:solidFill>
                <a:latin typeface="Calibri" panose="020F0502020204030204" pitchFamily="34" charset="0"/>
                <a:cs typeface="Calibri" panose="020F0502020204030204" pitchFamily="34" charset="0"/>
              </a:rPr>
              <a:t>夯实理论基础和搭建实验平台。搭建基于 </a:t>
            </a:r>
            <a:r>
              <a:rPr lang="en-US" sz="727" dirty="0" err="1">
                <a:solidFill>
                  <a:srgbClr val="333333"/>
                </a:solidFill>
                <a:latin typeface="Calibri" panose="020F0502020204030204" pitchFamily="34" charset="0"/>
                <a:cs typeface="Calibri" panose="020F0502020204030204" pitchFamily="34" charset="0"/>
              </a:rPr>
              <a:t>PyTorch</a:t>
            </a:r>
            <a:r>
              <a:rPr lang="en-US" sz="727" dirty="0">
                <a:solidFill>
                  <a:srgbClr val="333333"/>
                </a:solidFill>
                <a:latin typeface="Calibri" panose="020F0502020204030204" pitchFamily="34" charset="0"/>
                <a:cs typeface="Calibri" panose="020F0502020204030204" pitchFamily="34" charset="0"/>
              </a:rPr>
              <a:t> </a:t>
            </a:r>
            <a:r>
              <a:rPr lang="zh-CN" altLang="en-US" sz="727" dirty="0">
                <a:solidFill>
                  <a:srgbClr val="333333"/>
                </a:solidFill>
                <a:latin typeface="Calibri" panose="020F0502020204030204" pitchFamily="34" charset="0"/>
                <a:cs typeface="Calibri" panose="020F0502020204030204" pitchFamily="34" charset="0"/>
              </a:rPr>
              <a:t>和 </a:t>
            </a:r>
            <a:r>
              <a:rPr lang="en-US" sz="727" dirty="0">
                <a:solidFill>
                  <a:srgbClr val="333333"/>
                </a:solidFill>
                <a:latin typeface="Calibri" panose="020F0502020204030204" pitchFamily="34" charset="0"/>
                <a:cs typeface="Calibri" panose="020F0502020204030204" pitchFamily="34" charset="0"/>
              </a:rPr>
              <a:t>CLIP </a:t>
            </a:r>
            <a:r>
              <a:rPr lang="zh-CN" altLang="en-US" sz="727" dirty="0">
                <a:solidFill>
                  <a:srgbClr val="333333"/>
                </a:solidFill>
                <a:latin typeface="Calibri" panose="020F0502020204030204" pitchFamily="34" charset="0"/>
                <a:cs typeface="Calibri" panose="020F0502020204030204" pitchFamily="34" charset="0"/>
              </a:rPr>
              <a:t>的统一代码框架；完成</a:t>
            </a:r>
            <a:r>
              <a:rPr lang="en-US" sz="727" dirty="0">
                <a:solidFill>
                  <a:srgbClr val="333333"/>
                </a:solidFill>
                <a:latin typeface="Calibri" panose="020F0502020204030204" pitchFamily="34" charset="0"/>
                <a:cs typeface="Calibri" panose="020F0502020204030204" pitchFamily="34" charset="0"/>
              </a:rPr>
              <a:t>Oxford-IIIT Pets </a:t>
            </a:r>
            <a:r>
              <a:rPr lang="zh-CN" altLang="en-US" sz="727" dirty="0">
                <a:solidFill>
                  <a:srgbClr val="333333"/>
                </a:solidFill>
                <a:latin typeface="Calibri" panose="020F0502020204030204" pitchFamily="34" charset="0"/>
                <a:cs typeface="Calibri" panose="020F0502020204030204" pitchFamily="34" charset="0"/>
              </a:rPr>
              <a:t>数据集的清洗和预处理；复现 </a:t>
            </a:r>
            <a:r>
              <a:rPr lang="en-US" sz="727" dirty="0" err="1">
                <a:solidFill>
                  <a:srgbClr val="333333"/>
                </a:solidFill>
                <a:latin typeface="Calibri" panose="020F0502020204030204" pitchFamily="34" charset="0"/>
                <a:cs typeface="Calibri" panose="020F0502020204030204" pitchFamily="34" charset="0"/>
              </a:rPr>
              <a:t>CoOp</a:t>
            </a:r>
            <a:r>
              <a:rPr lang="en-US" sz="727" dirty="0">
                <a:solidFill>
                  <a:srgbClr val="333333"/>
                </a:solidFill>
                <a:latin typeface="Calibri" panose="020F0502020204030204" pitchFamily="34" charset="0"/>
                <a:cs typeface="Calibri" panose="020F0502020204030204" pitchFamily="34" charset="0"/>
              </a:rPr>
              <a:t>/</a:t>
            </a:r>
            <a:r>
              <a:rPr lang="en-US" sz="727" dirty="0" err="1">
                <a:solidFill>
                  <a:srgbClr val="333333"/>
                </a:solidFill>
                <a:latin typeface="Calibri" panose="020F0502020204030204" pitchFamily="34" charset="0"/>
                <a:cs typeface="Calibri" panose="020F0502020204030204" pitchFamily="34" charset="0"/>
              </a:rPr>
              <a:t>CoCoOp</a:t>
            </a:r>
            <a:r>
              <a:rPr lang="en-US" sz="727" dirty="0">
                <a:solidFill>
                  <a:srgbClr val="333333"/>
                </a:solidFill>
                <a:latin typeface="Calibri" panose="020F0502020204030204" pitchFamily="34" charset="0"/>
                <a:cs typeface="Calibri" panose="020F0502020204030204" pitchFamily="34" charset="0"/>
              </a:rPr>
              <a:t> </a:t>
            </a:r>
            <a:r>
              <a:rPr lang="zh-CN" altLang="en-US" sz="727" dirty="0">
                <a:solidFill>
                  <a:srgbClr val="333333"/>
                </a:solidFill>
                <a:latin typeface="Calibri" panose="020F0502020204030204" pitchFamily="34" charset="0"/>
                <a:cs typeface="Calibri" panose="020F0502020204030204" pitchFamily="34" charset="0"/>
              </a:rPr>
              <a:t>等基准模型。</a:t>
            </a:r>
          </a:p>
          <a:p>
            <a:pPr>
              <a:lnSpc>
                <a:spcPts val="1200"/>
              </a:lnSpc>
            </a:pPr>
            <a:endParaRPr lang="en-US" sz="727" dirty="0"/>
          </a:p>
        </p:txBody>
      </p:sp>
      <p:sp>
        <p:nvSpPr>
          <p:cNvPr id="9" name="Text 6"/>
          <p:cNvSpPr/>
          <p:nvPr/>
        </p:nvSpPr>
        <p:spPr>
          <a:xfrm>
            <a:off x="3309928" y="1372019"/>
            <a:ext cx="2524116"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4500"/>
                </a:solidFill>
              </a:rPr>
              <a:t>STEP 02</a:t>
            </a:r>
            <a:endParaRPr lang="en-US" sz="683" dirty="0"/>
          </a:p>
        </p:txBody>
      </p:sp>
      <p:sp>
        <p:nvSpPr>
          <p:cNvPr id="10" name="Text 7"/>
          <p:cNvSpPr/>
          <p:nvPr/>
        </p:nvSpPr>
        <p:spPr>
          <a:xfrm>
            <a:off x="3309928" y="1543469"/>
            <a:ext cx="2524116"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1A"/>
                </a:solidFill>
              </a:rPr>
              <a:t>核心算法开发与训练</a:t>
            </a:r>
            <a:endParaRPr lang="en-US" sz="885" dirty="0"/>
          </a:p>
        </p:txBody>
      </p:sp>
      <p:sp>
        <p:nvSpPr>
          <p:cNvPr id="11" name="Text 8"/>
          <p:cNvSpPr/>
          <p:nvPr/>
        </p:nvSpPr>
        <p:spPr>
          <a:xfrm>
            <a:off x="3309928" y="1804215"/>
            <a:ext cx="2524116" cy="755591"/>
          </a:xfrm>
          <a:prstGeom prst="rect">
            <a:avLst/>
          </a:prstGeom>
          <a:noFill/>
          <a:ln/>
        </p:spPr>
        <p:txBody>
          <a:bodyPr wrap="square" lIns="0" tIns="0" rIns="0" bIns="0" rtlCol="0" anchor="t">
            <a:spAutoFit/>
          </a:bodyPr>
          <a:lstStyle/>
          <a:p>
            <a:pPr>
              <a:lnSpc>
                <a:spcPts val="1200"/>
              </a:lnSpc>
            </a:pPr>
            <a:r>
              <a:rPr lang="en-US" sz="727" dirty="0">
                <a:solidFill>
                  <a:srgbClr val="333333"/>
                </a:solidFill>
                <a:latin typeface="Calibri" panose="020F0502020204030204" pitchFamily="34" charset="0"/>
                <a:cs typeface="Calibri" panose="020F0502020204030204" pitchFamily="34" charset="0"/>
              </a:rPr>
              <a:t>2026.3 - 2026.4
</a:t>
            </a:r>
            <a:r>
              <a:rPr lang="zh-CN" altLang="en-US" sz="727" dirty="0">
                <a:solidFill>
                  <a:srgbClr val="333333"/>
                </a:solidFill>
                <a:latin typeface="Calibri" panose="020F0502020204030204" pitchFamily="34" charset="0"/>
                <a:cs typeface="Calibri" panose="020F0502020204030204" pitchFamily="34" charset="0"/>
              </a:rPr>
              <a:t>聚焦于条件提示生成网络（</a:t>
            </a:r>
            <a:r>
              <a:rPr lang="en-US" sz="727" dirty="0">
                <a:solidFill>
                  <a:srgbClr val="333333"/>
                </a:solidFill>
                <a:latin typeface="Calibri" panose="020F0502020204030204" pitchFamily="34" charset="0"/>
                <a:cs typeface="Calibri" panose="020F0502020204030204" pitchFamily="34" charset="0"/>
              </a:rPr>
              <a:t>CPGN）</a:t>
            </a:r>
            <a:r>
              <a:rPr lang="zh-CN" altLang="en-US" sz="727" dirty="0">
                <a:solidFill>
                  <a:srgbClr val="333333"/>
                </a:solidFill>
                <a:latin typeface="Calibri" panose="020F0502020204030204" pitchFamily="34" charset="0"/>
                <a:cs typeface="Calibri" panose="020F0502020204030204" pitchFamily="34" charset="0"/>
              </a:rPr>
              <a:t>的设计与实现。构建轻量级多层感知机（</a:t>
            </a:r>
            <a:r>
              <a:rPr lang="en-US" sz="727" dirty="0">
                <a:solidFill>
                  <a:srgbClr val="333333"/>
                </a:solidFill>
                <a:latin typeface="Calibri" panose="020F0502020204030204" pitchFamily="34" charset="0"/>
                <a:cs typeface="Calibri" panose="020F0502020204030204" pitchFamily="34" charset="0"/>
              </a:rPr>
              <a:t>MLP）</a:t>
            </a:r>
            <a:r>
              <a:rPr lang="zh-CN" altLang="en-US" sz="727" dirty="0">
                <a:solidFill>
                  <a:srgbClr val="333333"/>
                </a:solidFill>
                <a:latin typeface="Calibri" panose="020F0502020204030204" pitchFamily="34" charset="0"/>
                <a:cs typeface="Calibri" panose="020F0502020204030204" pitchFamily="34" charset="0"/>
              </a:rPr>
              <a:t>作为生成器，将视觉特征映射为动态提示向量。</a:t>
            </a:r>
          </a:p>
          <a:p>
            <a:pPr>
              <a:lnSpc>
                <a:spcPts val="1200"/>
              </a:lnSpc>
            </a:pPr>
            <a:endParaRPr lang="en-US" sz="727" dirty="0"/>
          </a:p>
        </p:txBody>
      </p:sp>
      <p:sp>
        <p:nvSpPr>
          <p:cNvPr id="12" name="Text 9"/>
          <p:cNvSpPr/>
          <p:nvPr/>
        </p:nvSpPr>
        <p:spPr>
          <a:xfrm>
            <a:off x="6048356" y="1372019"/>
            <a:ext cx="2524144"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4500"/>
                </a:solidFill>
              </a:rPr>
              <a:t>STEP 03</a:t>
            </a:r>
            <a:endParaRPr lang="en-US" sz="683" dirty="0"/>
          </a:p>
        </p:txBody>
      </p:sp>
      <p:sp>
        <p:nvSpPr>
          <p:cNvPr id="13" name="Text 10"/>
          <p:cNvSpPr/>
          <p:nvPr/>
        </p:nvSpPr>
        <p:spPr>
          <a:xfrm>
            <a:off x="6048356" y="1543469"/>
            <a:ext cx="2524144"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1A"/>
                </a:solidFill>
              </a:rPr>
              <a:t>系统集成与成果产出</a:t>
            </a:r>
            <a:endParaRPr lang="en-US" sz="885" dirty="0"/>
          </a:p>
        </p:txBody>
      </p:sp>
      <p:sp>
        <p:nvSpPr>
          <p:cNvPr id="14" name="Text 11"/>
          <p:cNvSpPr/>
          <p:nvPr/>
        </p:nvSpPr>
        <p:spPr>
          <a:xfrm>
            <a:off x="6048356" y="1804215"/>
            <a:ext cx="2524144" cy="909480"/>
          </a:xfrm>
          <a:prstGeom prst="rect">
            <a:avLst/>
          </a:prstGeom>
          <a:noFill/>
          <a:ln/>
        </p:spPr>
        <p:txBody>
          <a:bodyPr wrap="square" lIns="0" tIns="0" rIns="0" bIns="0" rtlCol="0" anchor="t">
            <a:spAutoFit/>
          </a:bodyPr>
          <a:lstStyle/>
          <a:p>
            <a:pPr>
              <a:lnSpc>
                <a:spcPts val="1200"/>
              </a:lnSpc>
            </a:pPr>
            <a:r>
              <a:rPr lang="en-US" sz="727" dirty="0">
                <a:solidFill>
                  <a:srgbClr val="333333"/>
                </a:solidFill>
                <a:latin typeface="Calibri" panose="020F0502020204030204" pitchFamily="34" charset="0"/>
                <a:cs typeface="Calibri" panose="020F0502020204030204" pitchFamily="34" charset="0"/>
              </a:rPr>
              <a:t>2026.4 - 2026.5
</a:t>
            </a:r>
            <a:r>
              <a:rPr lang="zh-CN" altLang="en-US" sz="727" dirty="0">
                <a:solidFill>
                  <a:srgbClr val="333333"/>
                </a:solidFill>
                <a:latin typeface="Calibri" panose="020F0502020204030204" pitchFamily="34" charset="0"/>
                <a:cs typeface="Calibri" panose="020F0502020204030204" pitchFamily="34" charset="0"/>
              </a:rPr>
              <a:t>开发可视化交互演示系统，集成图像上传、分类预测、可视化及提示词展示功能。最后，整理实验数据，撰写高质量学位论文，并对核心代码及预训练模型进行开源封装，形成完整的学术成果。</a:t>
            </a:r>
          </a:p>
          <a:p>
            <a:pPr>
              <a:lnSpc>
                <a:spcPts val="1200"/>
              </a:lnSpc>
            </a:pPr>
            <a:endParaRPr lang="en-US" sz="727" dirty="0">
              <a:latin typeface="Calibri" panose="020F0502020204030204" pitchFamily="34" charset="0"/>
              <a:cs typeface="Calibri" panose="020F0502020204030204" pitchFamily="34" charset="0"/>
            </a:endParaRPr>
          </a:p>
        </p:txBody>
      </p:sp>
      <p:sp>
        <p:nvSpPr>
          <p:cNvPr id="15" name="Shape 12"/>
          <p:cNvSpPr/>
          <p:nvPr/>
        </p:nvSpPr>
        <p:spPr>
          <a:xfrm>
            <a:off x="571500" y="2540022"/>
            <a:ext cx="4170666" cy="287536"/>
          </a:xfrm>
          <a:prstGeom prst="rect">
            <a:avLst/>
          </a:prstGeom>
          <a:solidFill>
            <a:srgbClr val="1A1A1A"/>
          </a:solidFill>
          <a:ln/>
        </p:spPr>
      </p:sp>
      <p:sp>
        <p:nvSpPr>
          <p:cNvPr id="16" name="Text 13"/>
          <p:cNvSpPr/>
          <p:nvPr/>
        </p:nvSpPr>
        <p:spPr>
          <a:xfrm>
            <a:off x="571500" y="2540022"/>
            <a:ext cx="4170666" cy="287536"/>
          </a:xfrm>
          <a:prstGeom prst="rect">
            <a:avLst/>
          </a:prstGeom>
          <a:noFill/>
          <a:ln/>
        </p:spPr>
        <p:txBody>
          <a:bodyPr wrap="square" lIns="127508" tIns="85090" rIns="127508" bIns="85090" rtlCol="0" anchor="ctr">
            <a:spAutoFit/>
          </a:bodyPr>
          <a:lstStyle/>
          <a:p>
            <a:pPr marL="0" indent="0" algn="l">
              <a:lnSpc>
                <a:spcPts val="900"/>
              </a:lnSpc>
              <a:buNone/>
            </a:pPr>
            <a:r>
              <a:rPr lang="en-US" sz="683" b="1" kern="0" spc="1" dirty="0">
                <a:solidFill>
                  <a:srgbClr val="FFFFFF"/>
                </a:solidFill>
              </a:rPr>
              <a:t>时间节点</a:t>
            </a:r>
            <a:endParaRPr lang="en-US" sz="683" dirty="0"/>
          </a:p>
        </p:txBody>
      </p:sp>
      <p:sp>
        <p:nvSpPr>
          <p:cNvPr id="17" name="Shape 14"/>
          <p:cNvSpPr/>
          <p:nvPr/>
        </p:nvSpPr>
        <p:spPr>
          <a:xfrm>
            <a:off x="4742166" y="2540022"/>
            <a:ext cx="3830334" cy="287536"/>
          </a:xfrm>
          <a:prstGeom prst="rect">
            <a:avLst/>
          </a:prstGeom>
          <a:solidFill>
            <a:srgbClr val="1A1A1A"/>
          </a:solidFill>
          <a:ln/>
        </p:spPr>
      </p:sp>
      <p:sp>
        <p:nvSpPr>
          <p:cNvPr id="18" name="Text 15"/>
          <p:cNvSpPr/>
          <p:nvPr/>
        </p:nvSpPr>
        <p:spPr>
          <a:xfrm>
            <a:off x="4742166" y="2540022"/>
            <a:ext cx="3830334" cy="287536"/>
          </a:xfrm>
          <a:prstGeom prst="rect">
            <a:avLst/>
          </a:prstGeom>
          <a:noFill/>
          <a:ln/>
        </p:spPr>
        <p:txBody>
          <a:bodyPr wrap="square" lIns="127508" tIns="85090" rIns="127508" bIns="85090" rtlCol="0" anchor="ctr">
            <a:spAutoFit/>
          </a:bodyPr>
          <a:lstStyle/>
          <a:p>
            <a:pPr marL="0" indent="0" algn="l">
              <a:lnSpc>
                <a:spcPts val="900"/>
              </a:lnSpc>
              <a:buNone/>
            </a:pPr>
            <a:r>
              <a:rPr lang="en-US" sz="683" b="1" kern="0" spc="1" dirty="0">
                <a:solidFill>
                  <a:srgbClr val="FFFFFF"/>
                </a:solidFill>
              </a:rPr>
              <a:t>研究内容</a:t>
            </a:r>
            <a:endParaRPr lang="en-US" sz="683" dirty="0"/>
          </a:p>
        </p:txBody>
      </p:sp>
      <p:sp>
        <p:nvSpPr>
          <p:cNvPr id="19" name="Text 16"/>
          <p:cNvSpPr/>
          <p:nvPr/>
        </p:nvSpPr>
        <p:spPr>
          <a:xfrm>
            <a:off x="571500" y="2827558"/>
            <a:ext cx="4170666" cy="262533"/>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2026.1.8 - 2026.3.10</a:t>
            </a:r>
            <a:endParaRPr lang="en-US" sz="727" dirty="0"/>
          </a:p>
        </p:txBody>
      </p:sp>
      <p:sp>
        <p:nvSpPr>
          <p:cNvPr id="20" name="Text 17"/>
          <p:cNvSpPr/>
          <p:nvPr/>
        </p:nvSpPr>
        <p:spPr>
          <a:xfrm>
            <a:off x="4742166" y="2827558"/>
            <a:ext cx="3830334" cy="262533"/>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确立框架，进行实验</a:t>
            </a:r>
            <a:endParaRPr lang="en-US" sz="727" dirty="0"/>
          </a:p>
        </p:txBody>
      </p:sp>
      <p:sp>
        <p:nvSpPr>
          <p:cNvPr id="21" name="Shape 18"/>
          <p:cNvSpPr/>
          <p:nvPr/>
        </p:nvSpPr>
        <p:spPr>
          <a:xfrm>
            <a:off x="571500" y="3090090"/>
            <a:ext cx="8001000" cy="266105"/>
          </a:xfrm>
          <a:prstGeom prst="rect">
            <a:avLst/>
          </a:prstGeom>
          <a:solidFill>
            <a:srgbClr val="EAEAEA"/>
          </a:solidFill>
          <a:ln/>
        </p:spPr>
      </p:sp>
      <p:sp>
        <p:nvSpPr>
          <p:cNvPr id="22" name="Text 19"/>
          <p:cNvSpPr/>
          <p:nvPr/>
        </p:nvSpPr>
        <p:spPr>
          <a:xfrm>
            <a:off x="571500" y="3090090"/>
            <a:ext cx="4170666" cy="266105"/>
          </a:xfrm>
          <a:prstGeom prst="rect">
            <a:avLst/>
          </a:prstGeom>
          <a:noFill/>
          <a:ln/>
        </p:spPr>
        <p:txBody>
          <a:bodyPr wrap="square" lIns="127508" tIns="68072" rIns="127508" bIns="68072" rtlCol="0" anchor="ctr">
            <a:spAutoFit/>
          </a:bodyPr>
          <a:lstStyle/>
          <a:p>
            <a:pPr marL="0" indent="0" algn="l">
              <a:lnSpc>
                <a:spcPts val="900"/>
              </a:lnSpc>
              <a:buNone/>
            </a:pPr>
            <a:r>
              <a:rPr lang="en-US" sz="683" b="1" dirty="0">
                <a:solidFill>
                  <a:srgbClr val="FF4500"/>
                </a:solidFill>
              </a:rPr>
              <a:t>2026.3.11 - 2026.3.20</a:t>
            </a:r>
            <a:endParaRPr lang="en-US" sz="683" dirty="0"/>
          </a:p>
        </p:txBody>
      </p:sp>
      <p:sp>
        <p:nvSpPr>
          <p:cNvPr id="23" name="Text 20"/>
          <p:cNvSpPr/>
          <p:nvPr/>
        </p:nvSpPr>
        <p:spPr>
          <a:xfrm>
            <a:off x="4742166" y="3090090"/>
            <a:ext cx="3830334" cy="266105"/>
          </a:xfrm>
          <a:prstGeom prst="rect">
            <a:avLst/>
          </a:prstGeom>
          <a:noFill/>
          <a:ln/>
        </p:spPr>
        <p:txBody>
          <a:bodyPr wrap="square" lIns="127508" tIns="68072" rIns="127508" bIns="68072" rtlCol="0" anchor="ctr">
            <a:spAutoFit/>
          </a:bodyPr>
          <a:lstStyle/>
          <a:p>
            <a:pPr marL="0" indent="0" algn="l">
              <a:lnSpc>
                <a:spcPts val="900"/>
              </a:lnSpc>
              <a:buNone/>
            </a:pPr>
            <a:r>
              <a:rPr lang="en-US" sz="683" b="1" dirty="0">
                <a:solidFill>
                  <a:srgbClr val="FF4500"/>
                </a:solidFill>
              </a:rPr>
              <a:t>中期检查</a:t>
            </a:r>
            <a:endParaRPr lang="en-US" sz="683" dirty="0"/>
          </a:p>
        </p:txBody>
      </p:sp>
      <p:sp>
        <p:nvSpPr>
          <p:cNvPr id="24" name="Text 21"/>
          <p:cNvSpPr/>
          <p:nvPr/>
        </p:nvSpPr>
        <p:spPr>
          <a:xfrm>
            <a:off x="571500" y="3356195"/>
            <a:ext cx="4170666" cy="266105"/>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2026.3.21 - 2026.4.16</a:t>
            </a:r>
            <a:endParaRPr lang="en-US" sz="727" dirty="0"/>
          </a:p>
        </p:txBody>
      </p:sp>
      <p:sp>
        <p:nvSpPr>
          <p:cNvPr id="25" name="Text 22"/>
          <p:cNvSpPr/>
          <p:nvPr/>
        </p:nvSpPr>
        <p:spPr>
          <a:xfrm>
            <a:off x="4742166" y="3356195"/>
            <a:ext cx="3830334" cy="266105"/>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搭建可视化页面</a:t>
            </a:r>
            <a:endParaRPr lang="en-US" sz="727" dirty="0"/>
          </a:p>
        </p:txBody>
      </p:sp>
      <p:sp>
        <p:nvSpPr>
          <p:cNvPr id="26" name="Shape 23"/>
          <p:cNvSpPr/>
          <p:nvPr/>
        </p:nvSpPr>
        <p:spPr>
          <a:xfrm>
            <a:off x="571500" y="3622300"/>
            <a:ext cx="8001000" cy="266105"/>
          </a:xfrm>
          <a:prstGeom prst="rect">
            <a:avLst/>
          </a:prstGeom>
          <a:solidFill>
            <a:srgbClr val="EAEAEA"/>
          </a:solidFill>
          <a:ln/>
        </p:spPr>
      </p:sp>
      <p:sp>
        <p:nvSpPr>
          <p:cNvPr id="27" name="Text 24"/>
          <p:cNvSpPr/>
          <p:nvPr/>
        </p:nvSpPr>
        <p:spPr>
          <a:xfrm>
            <a:off x="571500" y="3622300"/>
            <a:ext cx="4170666" cy="266105"/>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2026.4.17 - 2026.4.28</a:t>
            </a:r>
            <a:endParaRPr lang="en-US" sz="727" dirty="0"/>
          </a:p>
        </p:txBody>
      </p:sp>
      <p:sp>
        <p:nvSpPr>
          <p:cNvPr id="28" name="Text 25"/>
          <p:cNvSpPr/>
          <p:nvPr/>
        </p:nvSpPr>
        <p:spPr>
          <a:xfrm>
            <a:off x="4742166" y="3622300"/>
            <a:ext cx="3830334" cy="266105"/>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论文审核及查重</a:t>
            </a:r>
            <a:endParaRPr lang="en-US" sz="727" dirty="0"/>
          </a:p>
        </p:txBody>
      </p:sp>
      <p:sp>
        <p:nvSpPr>
          <p:cNvPr id="29" name="Text 26"/>
          <p:cNvSpPr/>
          <p:nvPr/>
        </p:nvSpPr>
        <p:spPr>
          <a:xfrm>
            <a:off x="571500" y="3888405"/>
            <a:ext cx="4170666" cy="266105"/>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2026.4.29 - 2026.5.7</a:t>
            </a:r>
            <a:endParaRPr lang="en-US" sz="727" dirty="0"/>
          </a:p>
        </p:txBody>
      </p:sp>
      <p:sp>
        <p:nvSpPr>
          <p:cNvPr id="30" name="Text 27"/>
          <p:cNvSpPr/>
          <p:nvPr/>
        </p:nvSpPr>
        <p:spPr>
          <a:xfrm>
            <a:off x="4742166" y="3888405"/>
            <a:ext cx="3830334" cy="266105"/>
          </a:xfrm>
          <a:prstGeom prst="rect">
            <a:avLst/>
          </a:prstGeom>
          <a:noFill/>
          <a:ln/>
        </p:spPr>
        <p:txBody>
          <a:bodyPr wrap="square" lIns="127508" tIns="68072" rIns="127508" bIns="68072" rtlCol="0" anchor="ctr">
            <a:spAutoFit/>
          </a:bodyPr>
          <a:lstStyle/>
          <a:p>
            <a:pPr marL="0" indent="0" algn="l">
              <a:lnSpc>
                <a:spcPts val="900"/>
              </a:lnSpc>
              <a:buNone/>
            </a:pPr>
            <a:r>
              <a:rPr lang="en-US" sz="727" dirty="0">
                <a:solidFill>
                  <a:srgbClr val="333333"/>
                </a:solidFill>
              </a:rPr>
              <a:t>论文自查、专家抽查</a:t>
            </a:r>
            <a:endParaRPr lang="en-US" sz="727" dirty="0"/>
          </a:p>
        </p:txBody>
      </p:sp>
      <p:sp>
        <p:nvSpPr>
          <p:cNvPr id="31" name="Shape 28"/>
          <p:cNvSpPr/>
          <p:nvPr/>
        </p:nvSpPr>
        <p:spPr>
          <a:xfrm>
            <a:off x="571500" y="4154509"/>
            <a:ext cx="8001000" cy="266105"/>
          </a:xfrm>
          <a:prstGeom prst="rect">
            <a:avLst/>
          </a:prstGeom>
          <a:solidFill>
            <a:srgbClr val="EAEAEA"/>
          </a:solidFill>
          <a:ln/>
        </p:spPr>
      </p:sp>
      <p:sp>
        <p:nvSpPr>
          <p:cNvPr id="32" name="Text 29"/>
          <p:cNvSpPr/>
          <p:nvPr/>
        </p:nvSpPr>
        <p:spPr>
          <a:xfrm>
            <a:off x="571500" y="4154509"/>
            <a:ext cx="4170666" cy="266105"/>
          </a:xfrm>
          <a:prstGeom prst="rect">
            <a:avLst/>
          </a:prstGeom>
          <a:noFill/>
          <a:ln/>
        </p:spPr>
        <p:txBody>
          <a:bodyPr wrap="square" lIns="127508" tIns="68072" rIns="127508" bIns="68072" rtlCol="0" anchor="ctr">
            <a:spAutoFit/>
          </a:bodyPr>
          <a:lstStyle/>
          <a:p>
            <a:pPr marL="0" indent="0" algn="l">
              <a:lnSpc>
                <a:spcPts val="900"/>
              </a:lnSpc>
              <a:buNone/>
            </a:pPr>
            <a:r>
              <a:rPr lang="en-US" sz="683" b="1" dirty="0">
                <a:solidFill>
                  <a:srgbClr val="FF4500"/>
                </a:solidFill>
              </a:rPr>
              <a:t>2026.5.8 - 2026.5.17</a:t>
            </a:r>
            <a:endParaRPr lang="en-US" sz="683" dirty="0"/>
          </a:p>
        </p:txBody>
      </p:sp>
      <p:sp>
        <p:nvSpPr>
          <p:cNvPr id="33" name="Text 30"/>
          <p:cNvSpPr/>
          <p:nvPr/>
        </p:nvSpPr>
        <p:spPr>
          <a:xfrm>
            <a:off x="4742166" y="4154509"/>
            <a:ext cx="3830334" cy="266105"/>
          </a:xfrm>
          <a:prstGeom prst="rect">
            <a:avLst/>
          </a:prstGeom>
          <a:noFill/>
          <a:ln/>
        </p:spPr>
        <p:txBody>
          <a:bodyPr wrap="square" lIns="127508" tIns="68072" rIns="127508" bIns="68072" rtlCol="0" anchor="ctr">
            <a:spAutoFit/>
          </a:bodyPr>
          <a:lstStyle/>
          <a:p>
            <a:pPr marL="0" indent="0" algn="l">
              <a:lnSpc>
                <a:spcPts val="900"/>
              </a:lnSpc>
              <a:buNone/>
            </a:pPr>
            <a:r>
              <a:rPr lang="en-US" sz="683" b="1" dirty="0">
                <a:solidFill>
                  <a:srgbClr val="FF4500"/>
                </a:solidFill>
              </a:rPr>
              <a:t>答辩报告会</a:t>
            </a:r>
            <a:endParaRPr lang="en-US" sz="68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10" name="Shape 7"/>
          <p:cNvSpPr/>
          <p:nvPr/>
        </p:nvSpPr>
        <p:spPr>
          <a:xfrm>
            <a:off x="5715000" y="0"/>
            <a:ext cx="3429000" cy="5143500"/>
          </a:xfrm>
          <a:prstGeom prst="rect">
            <a:avLst/>
          </a:prstGeom>
          <a:solidFill>
            <a:srgbClr val="1A1A1A"/>
          </a:solidFill>
          <a:ln/>
        </p:spPr>
      </p:sp>
      <p:sp>
        <p:nvSpPr>
          <p:cNvPr id="11" name="Text 8"/>
          <p:cNvSpPr/>
          <p:nvPr/>
        </p:nvSpPr>
        <p:spPr>
          <a:xfrm>
            <a:off x="6315075" y="1590377"/>
            <a:ext cx="2228850" cy="828675"/>
          </a:xfrm>
          <a:prstGeom prst="rect">
            <a:avLst/>
          </a:prstGeom>
          <a:noFill/>
          <a:ln/>
        </p:spPr>
        <p:txBody>
          <a:bodyPr wrap="none" lIns="0" tIns="0" rIns="0" bIns="0" rtlCol="0" anchor="t">
            <a:spAutoFit/>
          </a:bodyPr>
          <a:lstStyle/>
          <a:p>
            <a:pPr marL="0" indent="0" algn="l">
              <a:lnSpc>
                <a:spcPts val="5400"/>
              </a:lnSpc>
              <a:buNone/>
            </a:pPr>
            <a:r>
              <a:rPr lang="en-US" sz="4145" b="1" kern="0" spc="-2" dirty="0">
                <a:solidFill>
                  <a:srgbClr val="F2F2F2"/>
                </a:solidFill>
              </a:rPr>
              <a:t>谢谢聆听</a:t>
            </a:r>
            <a:endParaRPr lang="en-US" sz="4145" dirty="0"/>
          </a:p>
        </p:txBody>
      </p:sp>
      <p:sp>
        <p:nvSpPr>
          <p:cNvPr id="12" name="Text 9"/>
          <p:cNvSpPr/>
          <p:nvPr/>
        </p:nvSpPr>
        <p:spPr>
          <a:xfrm>
            <a:off x="6792813" y="2561927"/>
            <a:ext cx="1273373" cy="233958"/>
          </a:xfrm>
          <a:prstGeom prst="rect">
            <a:avLst/>
          </a:prstGeom>
          <a:noFill/>
          <a:ln/>
        </p:spPr>
        <p:txBody>
          <a:bodyPr wrap="none" lIns="0" tIns="0" rIns="0" bIns="0" rtlCol="0" anchor="t">
            <a:spAutoFit/>
          </a:bodyPr>
          <a:lstStyle/>
          <a:p>
            <a:pPr marL="0" indent="0" algn="l">
              <a:lnSpc>
                <a:spcPts val="1600"/>
              </a:lnSpc>
              <a:buNone/>
            </a:pPr>
            <a:r>
              <a:rPr lang="en-US" sz="1193" b="1" kern="0" spc="3" dirty="0">
                <a:solidFill>
                  <a:srgbClr val="FF4500"/>
                </a:solidFill>
              </a:rPr>
              <a:t>THANK YOU</a:t>
            </a:r>
            <a:endParaRPr lang="en-US" sz="1193" dirty="0"/>
          </a:p>
        </p:txBody>
      </p:sp>
      <p:sp>
        <p:nvSpPr>
          <p:cNvPr id="13" name="Text 10"/>
          <p:cNvSpPr/>
          <p:nvPr/>
        </p:nvSpPr>
        <p:spPr>
          <a:xfrm>
            <a:off x="6915150" y="3224510"/>
            <a:ext cx="1028700" cy="328613"/>
          </a:xfrm>
          <a:prstGeom prst="rect">
            <a:avLst/>
          </a:prstGeom>
          <a:noFill/>
          <a:ln/>
        </p:spPr>
        <p:txBody>
          <a:bodyPr wrap="square" lIns="0" tIns="0" rIns="0" bIns="0" rtlCol="0" anchor="t">
            <a:spAutoFit/>
          </a:bodyPr>
          <a:lstStyle/>
          <a:p>
            <a:pPr marL="0" indent="0" algn="ctr">
              <a:lnSpc>
                <a:spcPts val="1100"/>
              </a:lnSpc>
              <a:buNone/>
            </a:pPr>
            <a:r>
              <a:rPr lang="en-US" sz="834" dirty="0">
                <a:solidFill>
                  <a:srgbClr val="F2F2F2">
                    <a:alpha val="70000"/>
                  </a:srgbClr>
                </a:solidFill>
              </a:rPr>
              <a:t>请各位老师批评指正
 汇报人：曾禹乐</a:t>
            </a:r>
            <a:endParaRPr lang="en-US" sz="83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715</Words>
  <Application>Microsoft Macintosh PowerPoint</Application>
  <PresentationFormat>全屏显示(16:9)</PresentationFormat>
  <Paragraphs>119</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宋体</vt:lpstr>
      <vt:lpstr>Arial</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yu du</cp:lastModifiedBy>
  <cp:revision>3</cp:revision>
  <dcterms:created xsi:type="dcterms:W3CDTF">2025-12-30T13:30:21Z</dcterms:created>
  <dcterms:modified xsi:type="dcterms:W3CDTF">2025-12-30T19:35:11Z</dcterms:modified>
</cp:coreProperties>
</file>