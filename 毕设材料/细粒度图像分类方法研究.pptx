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57250"/>
            <a:ext cx="49149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基于提示词优化的</a:t>
            </a:r>
            <a:r>
              <a:rPr lang="en-US" sz="285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r>
              <a:rPr lang="en-US" sz="285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细粒度图像分类方法研究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71500" y="2531734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汇报人：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14438" y="2531734"/>
            <a:ext cx="4286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曾禹乐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205758" y="2531734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指导教师：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91570" y="2531734"/>
            <a:ext cx="285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王浩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881778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专业班级：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57313" y="2881778"/>
            <a:ext cx="156269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网络空间安全 22270312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5758" y="2881778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答辩日期：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91570" y="2881778"/>
            <a:ext cx="72330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2026年5月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5" y="2143125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87648"/>
            <a:ext cx="3536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425178" y="1187648"/>
            <a:ext cx="15430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研究背景与核心技术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425178" y="1493044"/>
            <a:ext cx="15430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细粒度分类挑战与 CLIP 基础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286375" y="1187648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5900738" y="1187648"/>
            <a:ext cx="15430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系统架构与核心模块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00738" y="1493044"/>
            <a:ext cx="15430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动态提示词与难度感知机制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57250" y="2085975"/>
            <a:ext cx="389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460897" y="2085975"/>
            <a:ext cx="145732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实验设置与数据集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0897" y="2391370"/>
            <a:ext cx="14573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Oxford-IIIT Pets 详情与配置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286375" y="2085975"/>
            <a:ext cx="39826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5898952" y="2085975"/>
            <a:ext cx="15430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实验结果与对比分析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8952" y="2391370"/>
            <a:ext cx="15430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多维度性能评估与置信度分析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7250" y="2984302"/>
            <a:ext cx="3786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1450181" y="2984302"/>
            <a:ext cx="160198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安全验证与系统演示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50181" y="3289697"/>
            <a:ext cx="160198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TTC 防御效果与 Streamlit 界面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86375" y="2984302"/>
            <a:ext cx="4143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06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5915025" y="2984302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总结与展望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15025" y="3289697"/>
            <a:ext cx="1028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研究结论与未来方向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研究背景与核心技术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79599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044773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细粒度分类挑战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450181"/>
            <a:ext cx="378618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类间差异极小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71500" y="170914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不同品种（如猫狗）仅在局部特征（耳型、毛色）有微弱区别，传统全局特征难以捕捉。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1500" y="2289181"/>
            <a:ext cx="378618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类内变化巨大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71500" y="254814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受姿态、光照、遮挡等环境因素干扰严重，导致同一类别的视觉表现差异巨大。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1500" y="3128181"/>
            <a:ext cx="378618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少样本困境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71500" y="338714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高质量标注数据获取成本高，在极低样本条件下，模型难以构建稳定的判别边界。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079599"/>
            <a:ext cx="157163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1044773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提示学习演进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86313" y="1521619"/>
            <a:ext cx="3786188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929188" y="1718072"/>
            <a:ext cx="285750" cy="285750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803797"/>
            <a:ext cx="14287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57813" y="1705570"/>
            <a:ext cx="30718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视觉语言预训练模型，建立统一语义空间，具备零样本迁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移能力。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149" y="2248495"/>
            <a:ext cx="112514" cy="12858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786313" y="2534245"/>
            <a:ext cx="3786188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929188" y="2730698"/>
            <a:ext cx="285750" cy="285750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913" y="2816423"/>
            <a:ext cx="114300" cy="114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57813" y="2718197"/>
            <a:ext cx="30718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CoOp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引入可学习上下文向量替代人工模板，实现提示词自动优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化。</a:t>
            </a:r>
            <a:endParaRPr lang="en-US" sz="7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3149" y="3261122"/>
            <a:ext cx="112514" cy="12858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786313" y="3546872"/>
            <a:ext cx="3786188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4929188" y="3743325"/>
            <a:ext cx="285750" cy="285750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4913" y="3829050"/>
            <a:ext cx="114300" cy="1143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57813" y="3730823"/>
            <a:ext cx="30718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CoCoOp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引入图像条件提示，使提示词随输入动态变化，增强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泛化性。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系统整体架构设计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87648"/>
            <a:ext cx="12858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319795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11771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4413" y="1490365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输入图像</a:t>
            </a:r>
            <a:endParaRPr lang="en-US" sz="700" dirty="0"/>
          </a:p>
        </p:txBody>
      </p:sp>
      <p:sp>
        <p:nvSpPr>
          <p:cNvPr id="7" name="Shape 3"/>
          <p:cNvSpPr/>
          <p:nvPr/>
        </p:nvSpPr>
        <p:spPr>
          <a:xfrm>
            <a:off x="1928813" y="1466255"/>
            <a:ext cx="285750" cy="1428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8" name="Shape 4"/>
          <p:cNvSpPr/>
          <p:nvPr/>
        </p:nvSpPr>
        <p:spPr>
          <a:xfrm>
            <a:off x="2286000" y="1187648"/>
            <a:ext cx="1285875" cy="571500"/>
          </a:xfrm>
          <a:prstGeom prst="rect">
            <a:avLst/>
          </a:prstGeom>
          <a:solidFill>
            <a:srgbClr val="F7FAFC"/>
          </a:solidFill>
          <a:ln w="18288">
            <a:solidFill>
              <a:srgbClr val="319795"/>
            </a:solidFill>
            <a:prstDash val="dash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178719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03909" y="1357313"/>
            <a:ext cx="45005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冻结 CLIP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2678906" y="1623417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视觉编码器</a:t>
            </a:r>
            <a:endParaRPr lang="en-US" sz="700" dirty="0"/>
          </a:p>
        </p:txBody>
      </p:sp>
      <p:sp>
        <p:nvSpPr>
          <p:cNvPr id="12" name="Shape 7"/>
          <p:cNvSpPr/>
          <p:nvPr/>
        </p:nvSpPr>
        <p:spPr>
          <a:xfrm>
            <a:off x="3643313" y="1466255"/>
            <a:ext cx="285750" cy="1428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3" name="Shape 8"/>
          <p:cNvSpPr/>
          <p:nvPr/>
        </p:nvSpPr>
        <p:spPr>
          <a:xfrm>
            <a:off x="4000500" y="1187648"/>
            <a:ext cx="12858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31979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930" y="1311771"/>
            <a:ext cx="12501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43413" y="1490365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视觉特征</a:t>
            </a:r>
            <a:endParaRPr lang="en-US" sz="700" dirty="0"/>
          </a:p>
        </p:txBody>
      </p:sp>
      <p:sp>
        <p:nvSpPr>
          <p:cNvPr id="16" name="Shape 10"/>
          <p:cNvSpPr/>
          <p:nvPr/>
        </p:nvSpPr>
        <p:spPr>
          <a:xfrm>
            <a:off x="1285875" y="1973461"/>
            <a:ext cx="12858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319795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5" y="1964531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28775" y="2143125"/>
            <a:ext cx="6000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动态提示生成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1660029" y="2409230"/>
            <a:ext cx="53756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(偏移+缩放)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2643188" y="2252067"/>
            <a:ext cx="285750" cy="1428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1" name="Shape 14"/>
          <p:cNvSpPr/>
          <p:nvPr/>
        </p:nvSpPr>
        <p:spPr>
          <a:xfrm>
            <a:off x="3000375" y="1973461"/>
            <a:ext cx="1285875" cy="571500"/>
          </a:xfrm>
          <a:prstGeom prst="rect">
            <a:avLst/>
          </a:prstGeom>
          <a:solidFill>
            <a:srgbClr val="F7FAFC"/>
          </a:solidFill>
          <a:ln w="18288">
            <a:solidFill>
              <a:srgbClr val="319795"/>
            </a:solidFill>
            <a:prstDash val="dash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1964531"/>
            <a:ext cx="142875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418284" y="2143125"/>
            <a:ext cx="45005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冻结 CLIP</a:t>
            </a:r>
            <a:endParaRPr lang="en-US" sz="700" dirty="0"/>
          </a:p>
        </p:txBody>
      </p:sp>
      <p:sp>
        <p:nvSpPr>
          <p:cNvPr id="24" name="Text 16"/>
          <p:cNvSpPr/>
          <p:nvPr/>
        </p:nvSpPr>
        <p:spPr>
          <a:xfrm>
            <a:off x="3393281" y="2409230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文本编码器</a:t>
            </a:r>
            <a:endParaRPr lang="en-US" sz="700" dirty="0"/>
          </a:p>
        </p:txBody>
      </p:sp>
      <p:sp>
        <p:nvSpPr>
          <p:cNvPr id="25" name="Shape 17"/>
          <p:cNvSpPr/>
          <p:nvPr/>
        </p:nvSpPr>
        <p:spPr>
          <a:xfrm>
            <a:off x="4357688" y="2252067"/>
            <a:ext cx="285750" cy="1428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6" name="Shape 18"/>
          <p:cNvSpPr/>
          <p:nvPr/>
        </p:nvSpPr>
        <p:spPr>
          <a:xfrm>
            <a:off x="4714875" y="1973461"/>
            <a:ext cx="12858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319795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305" y="2097584"/>
            <a:ext cx="125016" cy="14287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57788" y="2276177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文本特征</a:t>
            </a:r>
            <a:endParaRPr lang="en-US" sz="700" dirty="0"/>
          </a:p>
        </p:txBody>
      </p:sp>
      <p:sp>
        <p:nvSpPr>
          <p:cNvPr id="29" name="Shape 20"/>
          <p:cNvSpPr/>
          <p:nvPr/>
        </p:nvSpPr>
        <p:spPr>
          <a:xfrm>
            <a:off x="2000250" y="2759273"/>
            <a:ext cx="1285875" cy="571500"/>
          </a:xfrm>
          <a:prstGeom prst="rect">
            <a:avLst/>
          </a:prstGeom>
          <a:solidFill>
            <a:srgbClr val="E6FFFA"/>
          </a:solidFill>
          <a:ln w="18288">
            <a:solidFill>
              <a:srgbClr val="319795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3891" y="2750344"/>
            <a:ext cx="178594" cy="14287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2343150" y="2928938"/>
            <a:ext cx="6000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难度权重计算</a:t>
            </a:r>
            <a:endParaRPr lang="en-US" sz="700" dirty="0"/>
          </a:p>
        </p:txBody>
      </p:sp>
      <p:sp>
        <p:nvSpPr>
          <p:cNvPr id="32" name="Text 22"/>
          <p:cNvSpPr/>
          <p:nvPr/>
        </p:nvSpPr>
        <p:spPr>
          <a:xfrm>
            <a:off x="2407444" y="3195042"/>
            <a:ext cx="4714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(闭环优化)</a:t>
            </a:r>
            <a:endParaRPr lang="en-US" sz="700" dirty="0"/>
          </a:p>
        </p:txBody>
      </p:sp>
      <p:sp>
        <p:nvSpPr>
          <p:cNvPr id="33" name="Shape 23"/>
          <p:cNvSpPr/>
          <p:nvPr/>
        </p:nvSpPr>
        <p:spPr>
          <a:xfrm>
            <a:off x="3357563" y="3037880"/>
            <a:ext cx="285750" cy="1428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4" name="Shape 24"/>
          <p:cNvSpPr/>
          <p:nvPr/>
        </p:nvSpPr>
        <p:spPr>
          <a:xfrm>
            <a:off x="3714750" y="2759273"/>
            <a:ext cx="1285875" cy="571500"/>
          </a:xfrm>
          <a:prstGeom prst="rect">
            <a:avLst/>
          </a:prstGeom>
          <a:solidFill>
            <a:srgbClr val="2D3748"/>
          </a:solidFill>
          <a:ln w="18288">
            <a:solidFill>
              <a:srgbClr val="319795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0" y="2750344"/>
            <a:ext cx="142875" cy="14287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107656" y="2928938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分类结果与</a:t>
            </a:r>
            <a:endParaRPr lang="en-US" sz="700" dirty="0"/>
          </a:p>
        </p:txBody>
      </p:sp>
      <p:sp>
        <p:nvSpPr>
          <p:cNvPr id="37" name="Text 26"/>
          <p:cNvSpPr/>
          <p:nvPr/>
        </p:nvSpPr>
        <p:spPr>
          <a:xfrm>
            <a:off x="4157663" y="3195042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加权损失</a:t>
            </a:r>
            <a:endParaRPr lang="en-US" sz="700" dirty="0"/>
          </a:p>
        </p:txBody>
      </p:sp>
      <p:sp>
        <p:nvSpPr>
          <p:cNvPr id="38" name="Text 27"/>
          <p:cNvSpPr/>
          <p:nvPr/>
        </p:nvSpPr>
        <p:spPr>
          <a:xfrm>
            <a:off x="6286500" y="1187648"/>
            <a:ext cx="2286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设计优势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6286500" y="1466255"/>
            <a:ext cx="2286000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sz="8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轻量化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：仅更新提示相关参数，保留 CLIP 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强大的零样本先验。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en-US" sz="8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动态性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：实现“一图一提示”，精准捕捉细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粒度局部特征。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</a:t>
            </a:r>
            <a:r>
              <a:rPr lang="en-US" sz="8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鲁棒性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：通过难度感知机制，强化对类别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边界样本的学习。</a:t>
            </a:r>
            <a:endParaRPr lang="en-US" sz="850" dirty="0"/>
          </a:p>
        </p:txBody>
      </p:sp>
      <p:sp>
        <p:nvSpPr>
          <p:cNvPr id="40" name="Shape 29"/>
          <p:cNvSpPr/>
          <p:nvPr/>
        </p:nvSpPr>
        <p:spPr>
          <a:xfrm>
            <a:off x="6286500" y="2777747"/>
            <a:ext cx="2286000" cy="508602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41" name="Shape 30"/>
          <p:cNvSpPr/>
          <p:nvPr/>
        </p:nvSpPr>
        <p:spPr>
          <a:xfrm>
            <a:off x="6286500" y="2777747"/>
            <a:ext cx="28575" cy="508602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42" name="Text 31"/>
          <p:cNvSpPr/>
          <p:nvPr/>
        </p:nvSpPr>
        <p:spPr>
          <a:xfrm>
            <a:off x="6429375" y="2920622"/>
            <a:ext cx="20002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“将图像条件提示与困难样本损失加权结合，稳定提升少样本分类表现。”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核心模块：动态提示与难度感知理论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2524116" cy="40987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44773"/>
            <a:ext cx="2524116" cy="28575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293912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1259086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类别自适应因子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50094" y="1628775"/>
            <a:ext cx="2166928" cy="2643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5"/>
          <p:cNvSpPr/>
          <p:nvPr/>
        </p:nvSpPr>
        <p:spPr>
          <a:xfrm>
            <a:off x="750094" y="1628775"/>
            <a:ext cx="21431" cy="264319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0" name="Text 6"/>
          <p:cNvSpPr/>
          <p:nvPr/>
        </p:nvSpPr>
        <p:spPr>
          <a:xfrm>
            <a:off x="750094" y="1628775"/>
            <a:ext cx="2166928" cy="264319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c'_i = c_i ⊙ α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50094" y="2035969"/>
            <a:ext cx="216692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</a:t>
            </a:r>
            <a:r>
              <a:rPr lang="en-US" sz="7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逐元素乘法 (⊙)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对基础上下文向量进行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缩放。α 为可学习的类别相关表示，使不同类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别在相同基础模板上学习到不同的上下文偏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好，增强类别区分度。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309928" y="1044773"/>
            <a:ext cx="2524116" cy="40987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309928" y="1044773"/>
            <a:ext cx="2524116" cy="28575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522" y="1293912"/>
            <a:ext cx="117872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92119" y="1259086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图像条件偏移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88522" y="1628775"/>
            <a:ext cx="2166928" cy="235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2"/>
          <p:cNvSpPr/>
          <p:nvPr/>
        </p:nvSpPr>
        <p:spPr>
          <a:xfrm>
            <a:off x="3488522" y="1628775"/>
            <a:ext cx="21431" cy="2357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8" name="Text 13"/>
          <p:cNvSpPr/>
          <p:nvPr/>
        </p:nvSpPr>
        <p:spPr>
          <a:xfrm>
            <a:off x="3488522" y="1628775"/>
            <a:ext cx="2166928" cy="235744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Δc = W2 ReLU(W1 f_v)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488522" y="2007394"/>
            <a:ext cx="216692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利用两层 MLP 根据图像特征 f_v 生成偏移向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量 Δc。将偏移叠加至基础上下文，实现</a:t>
            </a:r>
            <a:r>
              <a:rPr lang="en-US" sz="7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“一图</a:t>
            </a:r>
            <a:r>
              <a:rPr lang="en-US" sz="7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一提示”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，使模型能自适应处理不同姿态、遮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挡的样本。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048356" y="1044773"/>
            <a:ext cx="2524116" cy="40987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6048356" y="1044773"/>
            <a:ext cx="2524116" cy="28575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50" y="1293912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69838" y="1259086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难度权重计算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26950" y="1628775"/>
            <a:ext cx="2166928" cy="235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19"/>
          <p:cNvSpPr/>
          <p:nvPr/>
        </p:nvSpPr>
        <p:spPr>
          <a:xfrm>
            <a:off x="6226950" y="1628775"/>
            <a:ext cx="21431" cy="2357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6" name="Text 20"/>
          <p:cNvSpPr/>
          <p:nvPr/>
        </p:nvSpPr>
        <p:spPr>
          <a:xfrm>
            <a:off x="6226950" y="1628775"/>
            <a:ext cx="2166928" cy="235744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w_i = 1 + σ(s·u_i / τ)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6226950" y="2007394"/>
            <a:ext cx="216692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根据预测不确定性 u_i 动态生成样本权重。引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入可学习温度参数 τ 和缩放因子 s，使训练重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心转向</a:t>
            </a:r>
            <a:r>
              <a:rPr lang="en-US" sz="75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易混淆的困难样本</a:t>
            </a: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，优化决策边界。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数据集解释：Oxford-IIIT Pets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26046"/>
            <a:ext cx="150019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187648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数据集概况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571500" y="1650206"/>
            <a:ext cx="1821656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4375" y="1878806"/>
            <a:ext cx="1535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1979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37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4375" y="2257425"/>
            <a:ext cx="1535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细粒度类别 (猫/狗)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536031" y="1650206"/>
            <a:ext cx="1821656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78906" y="1878806"/>
            <a:ext cx="1535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1979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7,390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678906" y="2257425"/>
            <a:ext cx="1535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总图像数量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3206"/>
            <a:ext cx="128588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7244" y="2793206"/>
            <a:ext cx="3550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视觉多样性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7244" y="3059646"/>
            <a:ext cx="3471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包含丰富的姿态变化、光照差异、背景干扰以及不同程度的遮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07244" y="3265363"/>
            <a:ext cx="2571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挡，是评估细粒度分类鲁棒性的基准数据集。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24672"/>
            <a:ext cx="128588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244" y="3624672"/>
            <a:ext cx="3550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标注质量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807244" y="3891111"/>
            <a:ext cx="3471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提供高质量的品种标签及边界框标注，确保了监督学习与评估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807244" y="4096829"/>
            <a:ext cx="642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的准确性。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226046"/>
            <a:ext cx="171450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64919" y="1187648"/>
            <a:ext cx="151626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划分策略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650206"/>
            <a:ext cx="128588" cy="15716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22056" y="1650206"/>
            <a:ext cx="3550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随机采样逻辑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5022056" y="1916646"/>
            <a:ext cx="3471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严格遵循少样本学习设定，从每个类别中随机抽取固定数量的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5022056" y="2122363"/>
            <a:ext cx="2057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样本作为训练集，其余作为测试集。</a:t>
            </a:r>
            <a:endParaRPr lang="en-US" sz="9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481672"/>
            <a:ext cx="128588" cy="1571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22056" y="2481672"/>
            <a:ext cx="3550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实验 Shot 设置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5022056" y="2748111"/>
            <a:ext cx="3471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分别在以下五种数据规模下进行独立实验，验证模型在极低数</a:t>
            </a:r>
            <a:endParaRPr lang="en-US" sz="950" dirty="0"/>
          </a:p>
        </p:txBody>
      </p:sp>
      <p:sp>
        <p:nvSpPr>
          <p:cNvPr id="29" name="Text 20"/>
          <p:cNvSpPr/>
          <p:nvPr/>
        </p:nvSpPr>
        <p:spPr>
          <a:xfrm>
            <a:off x="5022056" y="2953829"/>
            <a:ext cx="11572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据量下的泛化能力：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4786313" y="3313137"/>
            <a:ext cx="617934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4786313" y="3313137"/>
            <a:ext cx="617934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1-Shot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5497116" y="3313137"/>
            <a:ext cx="644723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497116" y="3313137"/>
            <a:ext cx="644723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2-Shot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6234708" y="3313137"/>
            <a:ext cx="650081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234708" y="3313137"/>
            <a:ext cx="650081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4-Shot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6977658" y="3313137"/>
            <a:ext cx="646509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977658" y="3313137"/>
            <a:ext cx="646509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8-Shot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717036" y="3313137"/>
            <a:ext cx="698302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717036" y="3313137"/>
            <a:ext cx="698302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16-Shot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4786313" y="3825701"/>
            <a:ext cx="37861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实验结果取多次随机采样的平均值，以消除样本选择偏差。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实验设置与配置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22474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109" y="1187648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基础配置</a:t>
            </a:r>
            <a:endParaRPr lang="en-US" sz="11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28775"/>
            <a:ext cx="128588" cy="1571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628775"/>
            <a:ext cx="27932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硬件环境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07244" y="1895215"/>
            <a:ext cx="27110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NVIDIA GPU 算力支持，确保大规模对比实验的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807244" y="2100932"/>
            <a:ext cx="642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高效运行。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1678"/>
            <a:ext cx="128588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7244" y="2531678"/>
            <a:ext cx="27932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核心超参数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07244" y="2798118"/>
            <a:ext cx="26521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学习率 0.002，SGD 优化器，配合带 Warmup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807244" y="3003835"/>
            <a:ext cx="1028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的余弦退火调度。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34581"/>
            <a:ext cx="160734" cy="1571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9391" y="3434581"/>
            <a:ext cx="276105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模型骨干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839391" y="3701021"/>
            <a:ext cx="26199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 CLIP RN50，训练时冻结视觉与文本编码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839391" y="3906738"/>
            <a:ext cx="1543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器，仅优化提示学习模块。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075" y="1222474"/>
            <a:ext cx="157163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93394" y="1187648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自适应训练策略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029075" y="1628775"/>
            <a:ext cx="4543425" cy="200878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243388" y="1843088"/>
            <a:ext cx="4114800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针对少样本学习中易出现的过拟合问题，本文设计了</a:t>
            </a:r>
            <a:r>
              <a:rPr lang="en-US" sz="85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随 Shot 数变化的自适应训练轮数策略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4243388" y="2423127"/>
            <a:ext cx="1141214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3" name="Text 15"/>
          <p:cNvSpPr/>
          <p:nvPr/>
        </p:nvSpPr>
        <p:spPr>
          <a:xfrm>
            <a:off x="4243388" y="2423127"/>
            <a:ext cx="1141214" cy="19288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1-Shot: 200 Epochs</a:t>
            </a:r>
            <a:endParaRPr lang="en-US" sz="700" dirty="0"/>
          </a:p>
        </p:txBody>
      </p:sp>
      <p:sp>
        <p:nvSpPr>
          <p:cNvPr id="24" name="Shape 16"/>
          <p:cNvSpPr/>
          <p:nvPr/>
        </p:nvSpPr>
        <p:spPr>
          <a:xfrm>
            <a:off x="5488186" y="2423127"/>
            <a:ext cx="1141214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5" name="Text 17"/>
          <p:cNvSpPr/>
          <p:nvPr/>
        </p:nvSpPr>
        <p:spPr>
          <a:xfrm>
            <a:off x="5488186" y="2423127"/>
            <a:ext cx="1141214" cy="19288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2-Shot: 100 Epochs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6732984" y="2423127"/>
            <a:ext cx="1144786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7" name="Text 19"/>
          <p:cNvSpPr/>
          <p:nvPr/>
        </p:nvSpPr>
        <p:spPr>
          <a:xfrm>
            <a:off x="6732984" y="2423127"/>
            <a:ext cx="1144786" cy="19288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4-Shot: 100 Epochs</a:t>
            </a:r>
            <a:endParaRPr lang="en-US" sz="700" dirty="0"/>
          </a:p>
        </p:txBody>
      </p:sp>
      <p:sp>
        <p:nvSpPr>
          <p:cNvPr id="28" name="Shape 20"/>
          <p:cNvSpPr/>
          <p:nvPr/>
        </p:nvSpPr>
        <p:spPr>
          <a:xfrm>
            <a:off x="4243388" y="2687445"/>
            <a:ext cx="1098352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9" name="Text 21"/>
          <p:cNvSpPr/>
          <p:nvPr/>
        </p:nvSpPr>
        <p:spPr>
          <a:xfrm>
            <a:off x="4243388" y="2687445"/>
            <a:ext cx="1098352" cy="19288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8-Shot: 50 Epochs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5445323" y="2687445"/>
            <a:ext cx="1139428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31" name="Text 23"/>
          <p:cNvSpPr/>
          <p:nvPr/>
        </p:nvSpPr>
        <p:spPr>
          <a:xfrm>
            <a:off x="5445323" y="2687445"/>
            <a:ext cx="1139428" cy="19288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16-Shot: 50 Epochs</a:t>
            </a:r>
            <a:endParaRPr lang="en-US" sz="700" dirty="0"/>
          </a:p>
        </p:txBody>
      </p:sp>
      <p:sp>
        <p:nvSpPr>
          <p:cNvPr id="32" name="Text 24"/>
          <p:cNvSpPr/>
          <p:nvPr/>
        </p:nvSpPr>
        <p:spPr>
          <a:xfrm>
            <a:off x="4243388" y="3094639"/>
            <a:ext cx="41148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策略核心：在极低样本下保证学习充分，在高样本下通过减少轮数有效防止过拟合，提升泛化性能。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提示词方法对比：CoOp, CoCoOp vs. 本文方法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16211"/>
            <a:ext cx="4586288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330523"/>
            <a:ext cx="4286250" cy="29860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4438055"/>
            <a:ext cx="458628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图：不同 Shot 设置下各方法的准确率对比 (%)</a:t>
            </a:r>
            <a:endParaRPr lang="en-US" sz="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75" y="1148358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43575" y="1116211"/>
            <a:ext cx="107334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2-Shot 显著增益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5514975" y="1409105"/>
            <a:ext cx="3057525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在极低样本（2-Shot）条件下，本文方法相比 CoCoOp 提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升了 </a:t>
            </a:r>
            <a:r>
              <a:rPr lang="en-US" sz="8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2.4%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，证明了难度感知加权在稀疏数据下的强大表征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能力。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2274196"/>
            <a:ext cx="16073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61434" y="2242049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刷新性能上限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514975" y="2534943"/>
            <a:ext cx="3057525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 16-Shot 设置下，准确率达到 </a:t>
            </a:r>
            <a:r>
              <a:rPr lang="en-US" sz="8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89.8%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，在所有对比基准中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表现最优，展现了动态提示词优化的系统性优势。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975" y="3205730"/>
            <a:ext cx="178594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79294" y="3173583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稳定性分析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5514975" y="3466477"/>
            <a:ext cx="3057525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随着 Shot 数增加，本文方法保持了稳定的领先优势，有效克服了 CoOp 在某些 Shot 下性能波动的局限性。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Zero-shot CLIP 对比与置信度分析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22474"/>
            <a:ext cx="117872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6528" y="1187648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置信度量化提升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71500" y="1628775"/>
            <a:ext cx="3407569" cy="128587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85813" y="2020788"/>
            <a:ext cx="6197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1979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0.75</a:t>
            </a:r>
            <a:endParaRPr lang="en-US" sz="2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08" y="2242245"/>
            <a:ext cx="150019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41302" y="2020788"/>
            <a:ext cx="68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1979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0.82</a:t>
            </a:r>
            <a:endParaRPr lang="en-US" sz="2450" dirty="0"/>
          </a:p>
        </p:txBody>
      </p:sp>
      <p:sp>
        <p:nvSpPr>
          <p:cNvPr id="10" name="Text 5"/>
          <p:cNvSpPr/>
          <p:nvPr/>
        </p:nvSpPr>
        <p:spPr>
          <a:xfrm>
            <a:off x="785813" y="2549426"/>
            <a:ext cx="29789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平均预测置信度 (Confidence Score)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571500" y="3128963"/>
            <a:ext cx="34075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相比原始 Zero-shot CLIP，本文方法通过动态提示词优化，显著增强了模型对细粒度类别的判别确定性。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694" y="1222474"/>
            <a:ext cx="157163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72013" y="1187648"/>
            <a:ext cx="12573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预测分布优化效果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407694" y="1628775"/>
            <a:ext cx="4164806" cy="1630170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15" name="Shape 9"/>
          <p:cNvSpPr/>
          <p:nvPr/>
        </p:nvSpPr>
        <p:spPr>
          <a:xfrm>
            <a:off x="4407694" y="1628775"/>
            <a:ext cx="28575" cy="163017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288" y="1807369"/>
            <a:ext cx="114300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07744" y="1807369"/>
            <a:ext cx="358616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分布趋向高置信区间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：预测概率分布更加集中，有效减少了在易混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淆类别间的“摇摆”现象。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288" y="2338853"/>
            <a:ext cx="114300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07744" y="2338853"/>
            <a:ext cx="358616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判别边界清晰化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：难度感知加权机制强化了对边界样本的学习，使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得模型在特征空间中的决策边界更加稳健。</a:t>
            </a:r>
            <a:endParaRPr lang="en-US" sz="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6288" y="2870336"/>
            <a:ext cx="114300" cy="1428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807744" y="2870336"/>
            <a:ext cx="358616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鲁棒性增强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：高置信度的预测通常伴随着更强的抗干扰能力，为后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续的 TTC 防御提供了更稳定的基础。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安全验证：TTC 测试时防御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79599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044773"/>
            <a:ext cx="163413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PGD 对抗攻击测试结果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71500" y="1450181"/>
            <a:ext cx="4164806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571500" y="1450181"/>
            <a:ext cx="1490281" cy="271463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8" name="Text 4"/>
          <p:cNvSpPr/>
          <p:nvPr/>
        </p:nvSpPr>
        <p:spPr>
          <a:xfrm>
            <a:off x="571500" y="1450181"/>
            <a:ext cx="1490281" cy="271463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测试场景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061781" y="1450181"/>
            <a:ext cx="1020384" cy="271463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0" name="Text 6"/>
          <p:cNvSpPr/>
          <p:nvPr/>
        </p:nvSpPr>
        <p:spPr>
          <a:xfrm>
            <a:off x="2061781" y="1450181"/>
            <a:ext cx="1020384" cy="271463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原始准确率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082165" y="1450181"/>
            <a:ext cx="1654141" cy="271463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2" name="Text 8"/>
          <p:cNvSpPr/>
          <p:nvPr/>
        </p:nvSpPr>
        <p:spPr>
          <a:xfrm>
            <a:off x="3082165" y="1450181"/>
            <a:ext cx="1654141" cy="271463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TTC 防御后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1500" y="1721644"/>
            <a:ext cx="1490281" cy="275034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干净样本 (Clean)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061781" y="1721644"/>
            <a:ext cx="1020384" cy="275034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85.85%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082165" y="1721644"/>
            <a:ext cx="1654141" cy="275034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68.06%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71500" y="1996678"/>
            <a:ext cx="4164806" cy="278606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17" name="Text 13"/>
          <p:cNvSpPr/>
          <p:nvPr/>
        </p:nvSpPr>
        <p:spPr>
          <a:xfrm>
            <a:off x="571500" y="1996678"/>
            <a:ext cx="1490281" cy="278606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PGD 对抗攻击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061781" y="1996678"/>
            <a:ext cx="1020384" cy="278606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0.08%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082165" y="1996678"/>
            <a:ext cx="1654141" cy="278606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71.63% (↑71.55%)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71500" y="2457450"/>
            <a:ext cx="41648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实验表明 TTC 机制在强攻击下具有显著的鲁棒性恢复能力，通过在推理阶段即时修正对抗扰动，将准确率从近乎失效恢复至可用水平。</a:t>
            </a:r>
            <a:endParaRPr lang="en-US" sz="7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931" y="1079599"/>
            <a:ext cx="157163" cy="1571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07819" y="1044773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防御逻辑与原理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164931" y="1450181"/>
            <a:ext cx="285750" cy="285750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513" y="1528763"/>
            <a:ext cx="128588" cy="128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93556" y="1450181"/>
            <a:ext cx="182522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特征差异检测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593556" y="1673423"/>
            <a:ext cx="18252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利用特征差异比率 τ 判断样本稳定性：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5593556" y="1905595"/>
            <a:ext cx="1825228" cy="278606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Shape 22"/>
          <p:cNvSpPr/>
          <p:nvPr/>
        </p:nvSpPr>
        <p:spPr>
          <a:xfrm>
            <a:off x="5593556" y="1905595"/>
            <a:ext cx="28575" cy="278606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9" name="Text 23"/>
          <p:cNvSpPr/>
          <p:nvPr/>
        </p:nvSpPr>
        <p:spPr>
          <a:xfrm>
            <a:off x="5593556" y="1905595"/>
            <a:ext cx="1825228" cy="278606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τ = ||f_att - f_orig|| / ||f_orig||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164931" y="2398514"/>
            <a:ext cx="285750" cy="285750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513" y="2477095"/>
            <a:ext cx="128588" cy="128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93556" y="2398514"/>
            <a:ext cx="29789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即时修正机制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593556" y="2621756"/>
            <a:ext cx="297894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在推理阶段对单张输入做反向扰动修正，无需重新训练模型，具备极高的部署灵活性。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5164931" y="3157538"/>
            <a:ext cx="285750" cy="285750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3513" y="3236119"/>
            <a:ext cx="128588" cy="128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93556" y="3157538"/>
            <a:ext cx="297894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鲁棒性结论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593556" y="3380780"/>
            <a:ext cx="297894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有效应对细粒度模型对输入扰动敏感的问题，保障了系统在现实对抗环境下的安全性。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可视化演示：Streamlit 界面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22474"/>
            <a:ext cx="176808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5464" y="1187648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系统功能模块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71500" y="1628775"/>
            <a:ext cx="357188" cy="357188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1735931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563" y="1628775"/>
            <a:ext cx="40433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交互式图像上传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71563" y="1873448"/>
            <a:ext cx="40433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支持用户通过拖拽或文件选择器上传本地宠物图像，系统实时预览并自动触发后端推理。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571500" y="2489206"/>
            <a:ext cx="357188" cy="357188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16" y="2596362"/>
            <a:ext cx="107156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1563" y="2489206"/>
            <a:ext cx="377190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实时动态推理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71563" y="2733880"/>
            <a:ext cx="37719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后端加载预训练的动态提示词模型，秒级生成类别预测结果及置信度分布。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571500" y="3166774"/>
            <a:ext cx="357188" cy="357188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273930"/>
            <a:ext cx="142875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1563" y="3166774"/>
            <a:ext cx="40433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多方法结果对比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71563" y="3411448"/>
            <a:ext cx="40433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直观展示本文方法与原始 CLIP 的预测差异，通过可视化反馈增强研究的可解释性。</a:t>
            </a:r>
            <a:endParaRPr lang="en-US" sz="8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550" y="1222474"/>
            <a:ext cx="176808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827514" y="1187648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交互流程示意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5543550" y="1628775"/>
            <a:ext cx="3028950" cy="265926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6272213" y="1843088"/>
            <a:ext cx="1571625" cy="383977"/>
          </a:xfrm>
          <a:prstGeom prst="rect">
            <a:avLst/>
          </a:prstGeom>
          <a:solidFill>
            <a:srgbClr val="F7FAFC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6272213" y="1843088"/>
            <a:ext cx="1571625" cy="38397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用户上传图像</a:t>
            </a:r>
            <a:endParaRPr lang="en-US" sz="8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9805" y="2296716"/>
            <a:ext cx="96441" cy="12858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272213" y="2511028"/>
            <a:ext cx="1571625" cy="383977"/>
          </a:xfrm>
          <a:prstGeom prst="rect">
            <a:avLst/>
          </a:prstGeom>
          <a:solidFill>
            <a:srgbClr val="F7FAFC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6272213" y="2511028"/>
            <a:ext cx="1571625" cy="38397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后端特征提取与提示生成</a:t>
            </a:r>
            <a:endParaRPr lang="en-US" sz="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9805" y="2964656"/>
            <a:ext cx="96441" cy="128588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272213" y="3178969"/>
            <a:ext cx="1571625" cy="383977"/>
          </a:xfrm>
          <a:prstGeom prst="rect">
            <a:avLst/>
          </a:prstGeom>
          <a:solidFill>
            <a:srgbClr val="F7FAFC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6272213" y="3178969"/>
            <a:ext cx="1571625" cy="38397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模型推理与置信度计算</a:t>
            </a:r>
            <a:endParaRPr lang="en-US" sz="8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805" y="3632597"/>
            <a:ext cx="96441" cy="128588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6272213" y="3846909"/>
            <a:ext cx="1571625" cy="383977"/>
          </a:xfrm>
          <a:prstGeom prst="rect">
            <a:avLst/>
          </a:prstGeom>
          <a:solidFill>
            <a:srgbClr val="319795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272213" y="3846909"/>
            <a:ext cx="1571625" cy="383977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可视化结果展示</a:t>
            </a:r>
            <a:endParaRPr lang="en-US" sz="800" dirty="0"/>
          </a:p>
        </p:txBody>
      </p:sp>
      <p:sp>
        <p:nvSpPr>
          <p:cNvPr id="32" name="Text 21"/>
          <p:cNvSpPr/>
          <p:nvPr/>
        </p:nvSpPr>
        <p:spPr>
          <a:xfrm>
            <a:off x="5543550" y="4359473"/>
            <a:ext cx="302895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基于 Streamlit 构建，具备良好的跨平台演示性与响应速度。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总结与展望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83171"/>
            <a:ext cx="128588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244" y="1044773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全文总结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35806" y="147161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方法创新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：实现了动态提示词训练器，通过图像条件偏移与类别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自适应因子提升了细粒度特征表达。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35806" y="202592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性能突破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：引入难度权重计算器，在 16-Shot 下达到 89.8% 准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确率，显著优于 CoOp 与 CoCoOp。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35806" y="258023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安全增强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：桥接 TTC 防御机制，有效提升了模型在对抗攻击场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景下的鲁棒性。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083171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2056" y="1044773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不足与展望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50619" y="147161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泛化验证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：目前仅在单一数据集验证，未来将探索在鸟类、车型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等更多细粒度任务上的迁移能力。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950619" y="202592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防御优化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：当前安全防御对干净样本精度有一定副作用，需进一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步探索鲁棒性与精度的平衡点。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950619" y="258023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模型架构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：后续将尝试 ViT 等更强的主干网络，并探索多模态提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示协同优化。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0" y="3939778"/>
            <a:ext cx="9144000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感谢各位老师的聆听与指导</a:t>
            </a:r>
            <a:endParaRPr lang="en-US" sz="2450" dirty="0"/>
          </a:p>
        </p:txBody>
      </p:sp>
      <p:sp>
        <p:nvSpPr>
          <p:cNvPr id="15" name="Text 10"/>
          <p:cNvSpPr/>
          <p:nvPr/>
        </p:nvSpPr>
        <p:spPr>
          <a:xfrm>
            <a:off x="0" y="4507706"/>
            <a:ext cx="9144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请各位专家批评指正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2026-05-12T12:20:37Z</dcterms:created>
  <dcterms:modified xsi:type="dcterms:W3CDTF">2026-05-12T12:20:37Z</dcterms:modified>
</cp:coreProperties>
</file>