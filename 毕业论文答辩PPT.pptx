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58" r:id="rId5"/>
    <p:sldId id="263" r:id="rId6"/>
    <p:sldId id="259" r:id="rId7"/>
    <p:sldId id="261" r:id="rId8"/>
    <p:sldId id="262" r:id="rId9"/>
    <p:sldId id="270" r:id="rId10"/>
    <p:sldId id="271" r:id="rId11"/>
    <p:sldId id="265" r:id="rId12"/>
    <p:sldId id="264" r:id="rId13"/>
    <p:sldId id="266" r:id="rId14"/>
    <p:sldId id="272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>
        <p:scale>
          <a:sx n="146" d="100"/>
          <a:sy n="146" d="100"/>
        </p:scale>
        <p:origin x="56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53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8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3.png"/><Relationship Id="rId4" Type="http://schemas.openxmlformats.org/officeDocument/2006/relationships/image" Target="../media/image1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37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03302" y="1404242"/>
            <a:ext cx="4537396" cy="842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85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基于提示词优化的</a:t>
            </a:r>
            <a:endParaRPr lang="en-US" sz="2850" b="1" dirty="0">
              <a:solidFill>
                <a:srgbClr val="2D3748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  <a:p>
            <a:pPr marL="0" indent="0" algn="ctr">
              <a:lnSpc>
                <a:spcPct val="96000"/>
              </a:lnSpc>
              <a:buNone/>
            </a:pPr>
            <a:r>
              <a:rPr lang="en-US" sz="285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细粒度图像分类方法研究</a:t>
            </a:r>
            <a:endParaRPr lang="en-US" sz="285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D312290-86CB-883D-E79A-F4DA277CE6F0}"/>
              </a:ext>
            </a:extLst>
          </p:cNvPr>
          <p:cNvGrpSpPr/>
          <p:nvPr/>
        </p:nvGrpSpPr>
        <p:grpSpPr>
          <a:xfrm>
            <a:off x="2418734" y="2897234"/>
            <a:ext cx="4306531" cy="557213"/>
            <a:chOff x="571500" y="2531734"/>
            <a:chExt cx="4306531" cy="557213"/>
          </a:xfrm>
        </p:grpSpPr>
        <p:sp>
          <p:nvSpPr>
            <p:cNvPr id="4" name="Text 1"/>
            <p:cNvSpPr/>
            <p:nvPr/>
          </p:nvSpPr>
          <p:spPr>
            <a:xfrm>
              <a:off x="571500" y="2531734"/>
              <a:ext cx="571500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汇报人：</a:t>
              </a:r>
              <a:endParaRPr lang="en-US" sz="10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214438" y="2531734"/>
              <a:ext cx="428625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曾禹乐</a:t>
              </a:r>
              <a:endParaRPr lang="en-US" sz="10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3205758" y="2531734"/>
              <a:ext cx="714375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指导教师：</a:t>
              </a:r>
              <a:endParaRPr lang="en-US" sz="10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3991570" y="2531734"/>
              <a:ext cx="285750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王浩</a:t>
              </a:r>
              <a:endParaRPr lang="en-US" sz="10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71500" y="2881778"/>
              <a:ext cx="714375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专业班级：</a:t>
              </a:r>
              <a:endParaRPr lang="en-US" sz="10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357313" y="2881778"/>
              <a:ext cx="1562695" cy="207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网络空间安全 22270312</a:t>
              </a:r>
              <a:endParaRPr lang="en-US" sz="10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205758" y="2881778"/>
              <a:ext cx="714375" cy="2071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答辩日期：</a:t>
              </a:r>
              <a:endParaRPr lang="en-US" sz="1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991570" y="2881778"/>
              <a:ext cx="886461" cy="1615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2026年5月</a:t>
              </a:r>
              <a:r>
                <a:rPr lang="en-US" altLang="zh-CN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13</a:t>
              </a:r>
              <a:r>
                <a:rPr lang="zh-CN" altLang="en-US" sz="105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日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57250" y="1187648"/>
            <a:ext cx="3536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425178" y="1187648"/>
            <a:ext cx="262893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研究背景</a:t>
            </a:r>
            <a:r>
              <a:rPr lang="zh-CN" alt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r>
              <a:rPr lang="en-US" sz="12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相关技术与现有工作的不足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25177" y="1493044"/>
            <a:ext cx="2347375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细粒度分类挑战</a:t>
            </a:r>
            <a:r>
              <a:rPr lang="zh-CN" alt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 </a:t>
            </a:r>
            <a:r>
              <a:rPr lang="en-US" sz="8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基础与TTC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286375" y="1187648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5900738" y="1187648"/>
            <a:ext cx="154305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系统架构与核心模块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00738" y="1493044"/>
            <a:ext cx="1543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动态提示词与难度感知机制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7250" y="2085975"/>
            <a:ext cx="3893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460897" y="2085975"/>
            <a:ext cx="14573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数据集与实验配置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0897" y="2391370"/>
            <a:ext cx="14573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Oxford-IIIT Pets 详情与配置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286375" y="2085975"/>
            <a:ext cx="3982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5898952" y="2085975"/>
            <a:ext cx="15430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对比分析实验结果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8952" y="2391370"/>
            <a:ext cx="191916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与CoOp</a:t>
            </a:r>
            <a:r>
              <a:rPr lang="zh-CN" alt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、</a:t>
            </a:r>
            <a:r>
              <a:rPr lang="en-US" altLang="zh-CN" sz="8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CoCoOp</a:t>
            </a:r>
            <a:r>
              <a:rPr lang="zh-CN" alt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和</a:t>
            </a:r>
            <a:r>
              <a:rPr lang="en-US" altLang="zh-CN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Zero-Shot</a:t>
            </a:r>
            <a:r>
              <a:rPr lang="zh-CN" alt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</a:rPr>
              <a:t>的对比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7250" y="2984302"/>
            <a:ext cx="3786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1450181" y="2984302"/>
            <a:ext cx="160198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安全验证与系统演示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50181" y="3289697"/>
            <a:ext cx="160198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防御效果与 Streamlit 界面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86375" y="2984302"/>
            <a:ext cx="41433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5915025" y="2984302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总结与展望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15025" y="3289697"/>
            <a:ext cx="1199046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本文研究结论与未来方向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研究背景：细粒度分类的挑战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40334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187648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任务定义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499" y="1543050"/>
            <a:ext cx="5080364" cy="35888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在同一大类内部区分视觉差异极小的子类。例如在“狗”这一大类中，准确识别出柴犬、哈士奇、萨摩耶等具体品种。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92921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224023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核心难点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499" y="2595637"/>
            <a:ext cx="4996409" cy="35888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类间差异小（仅在局部特征如耳型、毛色有微弱区别）；类内变化大（受姿态、光照、遮挡等环境因素干扰严重）。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45507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3672" y="3292822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少样本困境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71500" y="3648224"/>
            <a:ext cx="4923288" cy="358881"/>
          </a:xfrm>
          <a:prstGeom prst="rect">
            <a:avLst/>
          </a:prstGeom>
          <a:noFill/>
          <a:ln/>
        </p:spPr>
        <p:txBody>
          <a:bodyPr wrap="square" lIns="29768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高质量标注数据获取成本极高，在极低样本（Few-Shot）条件下，传统深度学习模型难以捕捉稳定的判别边界。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1507D21-C4EE-85B4-59F5-815417AC62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7909" y="267592"/>
            <a:ext cx="1624495" cy="233660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828C098-3A99-A504-18C8-526E28F31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591" y="267592"/>
            <a:ext cx="1557735" cy="238110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045256C-0309-F4EB-89DF-A13DD9C652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592" y="2592866"/>
            <a:ext cx="1702381" cy="2358855"/>
          </a:xfrm>
          <a:prstGeom prst="rect">
            <a:avLst/>
          </a:prstGeom>
        </p:spPr>
      </p:pic>
      <p:sp>
        <p:nvSpPr>
          <p:cNvPr id="31" name="Text 2">
            <a:extLst>
              <a:ext uri="{FF2B5EF4-FFF2-40B4-BE49-F238E27FC236}">
                <a16:creationId xmlns:a16="http://schemas.microsoft.com/office/drawing/2014/main" id="{9F278067-422B-D818-A0A2-3C376F696718}"/>
              </a:ext>
            </a:extLst>
          </p:cNvPr>
          <p:cNvSpPr/>
          <p:nvPr/>
        </p:nvSpPr>
        <p:spPr>
          <a:xfrm>
            <a:off x="5029638" y="4951721"/>
            <a:ext cx="45862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图：花卉</a:t>
            </a:r>
            <a:r>
              <a:rPr lang="zh-CN" alt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、鸟类与车型细粒度分类示例图</a:t>
            </a:r>
            <a:endParaRPr lang="en-US" sz="7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410BDF78-AEBD-84FA-04A2-5EA56DB89FB2}"/>
              </a:ext>
            </a:extLst>
          </p:cNvPr>
          <p:cNvSpPr/>
          <p:nvPr/>
        </p:nvSpPr>
        <p:spPr>
          <a:xfrm>
            <a:off x="342900" y="413825"/>
            <a:ext cx="3536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相关技术：视觉语言预训练模型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321594" y="1187648"/>
            <a:ext cx="714375" cy="714375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6" name="Text 2"/>
          <p:cNvSpPr/>
          <p:nvPr/>
        </p:nvSpPr>
        <p:spPr>
          <a:xfrm>
            <a:off x="1490364" y="1441250"/>
            <a:ext cx="3768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499" y="2144860"/>
            <a:ext cx="2289146" cy="70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通过大规模图文对比学习，将图像与文本映射到统一语义空间，具备强大的零样本迁移能力。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234" y="1459108"/>
            <a:ext cx="107156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14813" y="1187648"/>
            <a:ext cx="714375" cy="714375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11" name="Text 5"/>
          <p:cNvSpPr/>
          <p:nvPr/>
        </p:nvSpPr>
        <p:spPr>
          <a:xfrm>
            <a:off x="4339828" y="1441249"/>
            <a:ext cx="4643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CoOp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464718" y="2150424"/>
            <a:ext cx="2214563" cy="70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引入可学习上下文向量替代人工模板，提升下游任务适配能力，实现提示词的自动优化。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31" y="1459108"/>
            <a:ext cx="107156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108031" y="1187648"/>
            <a:ext cx="714375" cy="714375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16" name="Text 8"/>
          <p:cNvSpPr/>
          <p:nvPr/>
        </p:nvSpPr>
        <p:spPr>
          <a:xfrm>
            <a:off x="7118746" y="1441249"/>
            <a:ext cx="6929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CoCoOp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357936" y="2156650"/>
            <a:ext cx="2214563" cy="70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44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引入图像条件提示，使提示词随输入图像动态变化，增强了模型在未知类别上的泛化性。</a:t>
            </a:r>
            <a:endParaRPr lang="en-US" sz="11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68AB958D-F393-8011-EEB3-DBF730FD7223}"/>
              </a:ext>
            </a:extLst>
          </p:cNvPr>
          <p:cNvSpPr/>
          <p:nvPr/>
        </p:nvSpPr>
        <p:spPr>
          <a:xfrm>
            <a:off x="342900" y="413825"/>
            <a:ext cx="3536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相关技术</a:t>
            </a:r>
            <a:r>
              <a:rPr lang="zh-CN" alt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：</a:t>
            </a: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测试时防御</a:t>
            </a: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Times New Roman" panose="02020603050405020304" pitchFamily="18" charset="0"/>
              </a:rPr>
              <a:t>TTC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2474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18764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防御思路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500188"/>
            <a:ext cx="4800600" cy="411435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在推理阶段对单张输入做即时修正，无需重新训练模型。利用模型自身的视觉编码器检测输入特征是否稳定。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60761"/>
            <a:ext cx="176808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4033" y="2125935"/>
            <a:ext cx="184665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技术原理：特征差异比率 τ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500" y="2438474"/>
            <a:ext cx="4800600" cy="205718"/>
          </a:xfrm>
          <a:prstGeom prst="rect">
            <a:avLst/>
          </a:prstGeom>
          <a:noFill/>
          <a:ln/>
        </p:spPr>
        <p:txBody>
          <a:bodyPr wrap="non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通过比较轻量扰动前后视觉特征的变化幅度来判断样本稳定性：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814388" y="2729917"/>
            <a:ext cx="4557713" cy="428625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6"/>
          <p:cNvSpPr/>
          <p:nvPr/>
        </p:nvSpPr>
        <p:spPr>
          <a:xfrm>
            <a:off x="814388" y="2729917"/>
            <a:ext cx="28575" cy="428625"/>
          </a:xfrm>
          <a:prstGeom prst="rect">
            <a:avLst/>
          </a:prstGeom>
          <a:solidFill>
            <a:srgbClr val="319795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7"/>
              <p:cNvSpPr/>
              <p:nvPr/>
            </p:nvSpPr>
            <p:spPr>
              <a:xfrm>
                <a:off x="957262" y="2728228"/>
                <a:ext cx="4414838" cy="4767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1400"/>
                                  <m:t>att</m:t>
                                </m:r>
                              </m:sub>
                            </m:s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1400"/>
                                  <m:t>orig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altLang="zh-CN" sz="1400"/>
                                  <m:t>orig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zh-CN" altLang="zh-CN" sz="1100" dirty="0">
                    <a:effectLst/>
                  </a:rPr>
                  <a:t> </a:t>
                </a:r>
                <a:endParaRPr lang="en-US" sz="1100" dirty="0"/>
              </a:p>
            </p:txBody>
          </p:sp>
        </mc:Choice>
        <mc:Fallback xmlns="">
          <p:sp>
            <p:nvSpPr>
              <p:cNvPr id="12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262" y="2728228"/>
                <a:ext cx="4414838" cy="476797"/>
              </a:xfrm>
              <a:prstGeom prst="rect">
                <a:avLst/>
              </a:prstGeom>
              <a:blipFill>
                <a:blip r:embed="rId5"/>
                <a:stretch>
                  <a:fillRect l="-1149" t="-2632" b="-105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07680"/>
            <a:ext cx="196453" cy="1571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3678" y="3372855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应用价值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71500" y="3685394"/>
            <a:ext cx="4800600" cy="411435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有效应对 PGD 等对抗攻击，将对抗样本在特征空间中推向更稳定的区域，保障模型在现实复杂环境下的输出稳定性。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5972175" y="1130498"/>
            <a:ext cx="20002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575" y="1244798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086475" y="1473398"/>
            <a:ext cx="1771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输入图像 (待测)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722" y="1802011"/>
            <a:ext cx="107156" cy="14287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972175" y="2046684"/>
            <a:ext cx="20002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6575" y="2160984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086475" y="2389584"/>
            <a:ext cx="1771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异常检测 (τ 统计)</a:t>
            </a:r>
            <a:endParaRPr lang="en-US" sz="8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8722" y="2718197"/>
            <a:ext cx="107156" cy="142875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972175" y="2962870"/>
            <a:ext cx="20002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3077170"/>
            <a:ext cx="171450" cy="17145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086475" y="3305770"/>
            <a:ext cx="1771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反向扰动修正</a:t>
            </a:r>
            <a:endParaRPr lang="en-US" sz="8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722" y="3634383"/>
            <a:ext cx="107156" cy="142875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5972175" y="3879056"/>
            <a:ext cx="2000250" cy="571500"/>
          </a:xfrm>
          <a:prstGeom prst="rect">
            <a:avLst/>
          </a:prstGeom>
          <a:solidFill>
            <a:srgbClr val="FFFFFF"/>
          </a:solidFill>
          <a:ln w="9144">
            <a:solidFill>
              <a:srgbClr val="319795"/>
            </a:solidFill>
            <a:prstDash val="solid"/>
          </a:ln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6575" y="3993356"/>
            <a:ext cx="171450" cy="17145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086475" y="4221956"/>
            <a:ext cx="17716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稳定特征输出</a:t>
            </a:r>
            <a:endParaRPr lang="en-US" sz="8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F6304F6-880E-23ED-DAC4-76701418E8F6}"/>
              </a:ext>
            </a:extLst>
          </p:cNvPr>
          <p:cNvSpPr/>
          <p:nvPr/>
        </p:nvSpPr>
        <p:spPr>
          <a:xfrm>
            <a:off x="342900" y="413825"/>
            <a:ext cx="322204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450" dirty="0"/>
          </a:p>
        </p:txBody>
      </p:sp>
    </p:spTree>
    <p:extLst>
      <p:ext uri="{BB962C8B-B14F-4D97-AF65-F5344CB8AC3E}">
        <p14:creationId xmlns:p14="http://schemas.microsoft.com/office/powerpoint/2010/main" val="2398155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现有工作的不足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16211"/>
            <a:ext cx="8001000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5813" y="1330523"/>
            <a:ext cx="428625" cy="428625"/>
          </a:xfrm>
          <a:prstGeom prst="rect">
            <a:avLst/>
          </a:prstGeom>
          <a:solidFill>
            <a:srgbClr val="FFF5F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59111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1330523"/>
            <a:ext cx="6929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提示词适配能力有限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428750" y="1628775"/>
            <a:ext cx="69294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现有方法对细粒度类别差异的针对性不足，文本端语义难以支撑微弱的局部特征区分，特别是在极低样本条件下表达能力受限。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71500" y="2330648"/>
            <a:ext cx="8001000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5813" y="2544961"/>
            <a:ext cx="428625" cy="428625"/>
          </a:xfrm>
          <a:prstGeom prst="rect">
            <a:avLst/>
          </a:prstGeom>
          <a:solidFill>
            <a:srgbClr val="FFF5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2673548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28750" y="2544961"/>
            <a:ext cx="6929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缺乏对困难样本的关注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428750" y="2843213"/>
            <a:ext cx="69294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训练过程对所有样本一视同仁，导致模型更新被大量简单样本主导，削弱了对类别边界附近易混淆样本的学习强度。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71500" y="3545086"/>
            <a:ext cx="8001000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85813" y="3759398"/>
            <a:ext cx="428625" cy="428625"/>
          </a:xfrm>
          <a:prstGeom prst="rect">
            <a:avLst/>
          </a:prstGeom>
          <a:solidFill>
            <a:srgbClr val="FFF5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87986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28750" y="3759398"/>
            <a:ext cx="692943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安全性与鲁棒性欠缺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428750" y="4057650"/>
            <a:ext cx="6929438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细粒度模型决策边界敏感，对输入扰动缺乏防御能力，在对抗攻击场景下极易发生类别偏移，难以满足现实部署需求。</a:t>
            </a:r>
            <a:endParaRPr lang="en-US" sz="9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2835BC7-5A4B-BDEC-B545-31EC67173E56}"/>
              </a:ext>
            </a:extLst>
          </p:cNvPr>
          <p:cNvSpPr/>
          <p:nvPr/>
        </p:nvSpPr>
        <p:spPr>
          <a:xfrm>
            <a:off x="342900" y="413825"/>
            <a:ext cx="3536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2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系统整体架构设计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6286500" y="1187648"/>
            <a:ext cx="2286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设计优势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6286500" y="1466255"/>
            <a:ext cx="2286000" cy="116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轻量化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：仅更新提示相关参数，保留 CLIP 强大的零样本先验。
2.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动态性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：实现“一图一提示”，精准捕捉细粒度局部特征。
3. </a:t>
            </a:r>
            <a:r>
              <a:rPr lang="en-US" sz="10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鲁棒性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：通过难度感知机制，强化对类别边界样本的学习。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6286500" y="3134564"/>
            <a:ext cx="2286000" cy="508602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41" name="Shape 30"/>
          <p:cNvSpPr/>
          <p:nvPr/>
        </p:nvSpPr>
        <p:spPr>
          <a:xfrm>
            <a:off x="6286500" y="3134564"/>
            <a:ext cx="28575" cy="508602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42" name="Text 31"/>
          <p:cNvSpPr/>
          <p:nvPr/>
        </p:nvSpPr>
        <p:spPr>
          <a:xfrm>
            <a:off x="6429375" y="3228244"/>
            <a:ext cx="2143125" cy="321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“将图像条件提示与困难样本损失加权结合，稳定提升少样本分类表现。”</a:t>
            </a:r>
            <a:endParaRPr lang="en-US" sz="850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3B83389-8BD7-25F4-133A-AB006F5881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206671"/>
            <a:ext cx="5398135" cy="2436495"/>
          </a:xfrm>
          <a:prstGeom prst="rect">
            <a:avLst/>
          </a:prstGeom>
        </p:spPr>
      </p:pic>
      <p:sp>
        <p:nvSpPr>
          <p:cNvPr id="44" name="Text 2">
            <a:extLst>
              <a:ext uri="{FF2B5EF4-FFF2-40B4-BE49-F238E27FC236}">
                <a16:creationId xmlns:a16="http://schemas.microsoft.com/office/drawing/2014/main" id="{C7F0EC24-F754-B177-3F7E-EC3EA329DBCB}"/>
              </a:ext>
            </a:extLst>
          </p:cNvPr>
          <p:cNvSpPr/>
          <p:nvPr/>
        </p:nvSpPr>
        <p:spPr>
          <a:xfrm>
            <a:off x="571500" y="3653899"/>
            <a:ext cx="45862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图：系统整体架构图</a:t>
            </a:r>
            <a:endParaRPr lang="en-US" sz="7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E5C4FB6-E18E-A57D-7167-C2630B2E7FA3}"/>
              </a:ext>
            </a:extLst>
          </p:cNvPr>
          <p:cNvSpPr/>
          <p:nvPr/>
        </p:nvSpPr>
        <p:spPr>
          <a:xfrm>
            <a:off x="342900" y="413825"/>
            <a:ext cx="367088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核心模块：动态提示与难度感知理论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293912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1259086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类别自适应因子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50094" y="1628775"/>
            <a:ext cx="2166928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5"/>
          <p:cNvSpPr/>
          <p:nvPr/>
        </p:nvSpPr>
        <p:spPr>
          <a:xfrm>
            <a:off x="750094" y="1628775"/>
            <a:ext cx="21431" cy="264319"/>
          </a:xfrm>
          <a:prstGeom prst="rect">
            <a:avLst/>
          </a:prstGeom>
          <a:solidFill>
            <a:srgbClr val="CBD5E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771525" y="1506817"/>
                <a:ext cx="2166928" cy="368947"/>
              </a:xfrm>
              <a:prstGeom prst="rect">
                <a:avLst/>
              </a:prstGeom>
              <a:noFill/>
              <a:ln/>
            </p:spPr>
            <p:txBody>
              <a:bodyPr wrap="square" lIns="127508" tIns="127508" rIns="127508" bIns="0" rtlCol="0" anchor="t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zh-CN" sz="1400"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zh-CN" altLang="zh-CN" sz="900" dirty="0">
                    <a:effectLst/>
                  </a:rPr>
                  <a:t> </a:t>
                </a:r>
                <a:endParaRPr lang="en-US" sz="850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25" y="1506817"/>
                <a:ext cx="2166928" cy="368947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7"/>
          <p:cNvSpPr/>
          <p:nvPr/>
        </p:nvSpPr>
        <p:spPr>
          <a:xfrm>
            <a:off x="750093" y="2035969"/>
            <a:ext cx="2188359" cy="1129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通过</a:t>
            </a:r>
            <a:r>
              <a:rPr lang="en-US" sz="1050" dirty="0">
                <a:solidFill>
                  <a:srgbClr val="319795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逐元素乘法 (⊙)</a:t>
            </a:r>
            <a:r>
              <a:rPr lang="en-US" sz="11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 对基础上下文向量进行缩放。α 为可学习的类别相关表示，使不同类别在相同基础模板上学习到不同的上下文偏好，增强类别区分度。</a:t>
            </a:r>
            <a:endParaRPr lang="en-US"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309928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522" y="1293912"/>
            <a:ext cx="117872" cy="1571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2119" y="1259086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图像条件偏移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88522" y="1628775"/>
            <a:ext cx="2166928" cy="235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2"/>
          <p:cNvSpPr/>
          <p:nvPr/>
        </p:nvSpPr>
        <p:spPr>
          <a:xfrm>
            <a:off x="3488522" y="1628775"/>
            <a:ext cx="21431" cy="235744"/>
          </a:xfrm>
          <a:prstGeom prst="rect">
            <a:avLst/>
          </a:prstGeom>
          <a:solidFill>
            <a:srgbClr val="CBD5E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3"/>
              <p:cNvSpPr/>
              <p:nvPr/>
            </p:nvSpPr>
            <p:spPr>
              <a:xfrm>
                <a:off x="3452804" y="1519946"/>
                <a:ext cx="2381240" cy="339260"/>
              </a:xfrm>
              <a:prstGeom prst="rect">
                <a:avLst/>
              </a:prstGeom>
              <a:noFill/>
              <a:ln/>
            </p:spPr>
            <p:txBody>
              <a:bodyPr wrap="square" lIns="127508" tIns="127508" rIns="127508" bIns="0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zh-CN" sz="1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CN" sz="1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140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ctrlPr>
                          <a:rPr lang="zh-CN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700" dirty="0">
                    <a:effectLst/>
                  </a:rPr>
                  <a:t> </a:t>
                </a:r>
                <a:endParaRPr lang="en-US" sz="700" dirty="0"/>
              </a:p>
            </p:txBody>
          </p:sp>
        </mc:Choice>
        <mc:Fallback xmlns="">
          <p:sp>
            <p:nvSpPr>
              <p:cNvPr id="18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804" y="1519946"/>
                <a:ext cx="2381240" cy="339260"/>
              </a:xfrm>
              <a:prstGeom prst="rect">
                <a:avLst/>
              </a:prstGeom>
              <a:blipFill>
                <a:blip r:embed="rId6"/>
                <a:stretch>
                  <a:fillRect b="-214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14"/>
          <p:cNvSpPr/>
          <p:nvPr/>
        </p:nvSpPr>
        <p:spPr>
          <a:xfrm>
            <a:off x="3488521" y="2007394"/>
            <a:ext cx="2345523" cy="123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利用两层 MLP 根据图像特征 f_v 生成偏移向量 </a:t>
            </a:r>
            <a:r>
              <a:rPr lang="en-US" sz="120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Δc。将偏移叠加至基础上下文，实现</a:t>
            </a:r>
            <a:r>
              <a:rPr lang="en-US" sz="1100" dirty="0" err="1">
                <a:solidFill>
                  <a:srgbClr val="319795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“一图一提示</a:t>
            </a:r>
            <a:r>
              <a:rPr lang="en-US" sz="1100" dirty="0">
                <a:solidFill>
                  <a:srgbClr val="319795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”</a:t>
            </a:r>
            <a:r>
              <a:rPr lang="zh-CN" altLang="en-US" sz="12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，</a:t>
            </a:r>
            <a:r>
              <a:rPr lang="en-US" sz="120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使模型能自适应处理不同姿态、遮挡的样本</a:t>
            </a:r>
            <a:r>
              <a:rPr lang="en-US" sz="12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。</a:t>
            </a:r>
            <a:endParaRPr lang="en-US"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048356" y="1044773"/>
            <a:ext cx="2524116" cy="40987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6048356" y="1044773"/>
            <a:ext cx="2524116" cy="28575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950" y="1293912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9838" y="1259086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难度权重计算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26950" y="1628775"/>
            <a:ext cx="2166928" cy="2357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19"/>
          <p:cNvSpPr/>
          <p:nvPr/>
        </p:nvSpPr>
        <p:spPr>
          <a:xfrm>
            <a:off x="6226950" y="1628775"/>
            <a:ext cx="21431" cy="235744"/>
          </a:xfrm>
          <a:prstGeom prst="rect">
            <a:avLst/>
          </a:prstGeom>
          <a:solidFill>
            <a:srgbClr val="CBD5E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0"/>
              <p:cNvSpPr/>
              <p:nvPr/>
            </p:nvSpPr>
            <p:spPr>
              <a:xfrm>
                <a:off x="6305531" y="1486059"/>
                <a:ext cx="2652337" cy="407035"/>
              </a:xfrm>
              <a:prstGeom prst="rect">
                <a:avLst/>
              </a:prstGeom>
              <a:noFill/>
              <a:ln/>
            </p:spPr>
            <p:txBody>
              <a:bodyPr wrap="square" lIns="127508" tIns="127508" rIns="127508" bIns="0" rtlCol="0" anchor="t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1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zh-CN" altLang="zh-CN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CN" sz="1100"/>
                              <m:t>base</m:t>
                            </m:r>
                          </m:e>
                        </m:d>
                      </m:sup>
                    </m:sSubSup>
                    <m:r>
                      <a:rPr lang="en-US" altLang="zh-CN" sz="1100">
                        <a:latin typeface="Cambria Math" panose="02040503050406030204" pitchFamily="18" charset="0"/>
                      </a:rPr>
                      <m:t>=1+</m:t>
                    </m:r>
                    <m:r>
                      <m:rPr>
                        <m:sty m:val="p"/>
                      </m:rPr>
                      <a:rPr lang="en-US" altLang="zh-CN" sz="1100">
                        <a:latin typeface="Cambria Math" panose="02040503050406030204" pitchFamily="18" charset="0"/>
                      </a:rPr>
                      <m:t>σ</m:t>
                    </m:r>
                    <m:d>
                      <m:dPr>
                        <m:ctrlPr>
                          <a:rPr lang="zh-CN" altLang="zh-CN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1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10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zh-CN" altLang="zh-C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1100">
                                <a:latin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11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1100">
                                <a:latin typeface="Cambria Math" panose="02040503050406030204" pitchFamily="18" charset="0"/>
                              </a:rPr>
                              <m:t>ε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500" dirty="0">
                    <a:effectLst/>
                  </a:rPr>
                  <a:t> </a:t>
                </a:r>
                <a:endParaRPr lang="en-US" sz="500" dirty="0"/>
              </a:p>
            </p:txBody>
          </p:sp>
        </mc:Choice>
        <mc:Fallback xmlns="">
          <p:sp>
            <p:nvSpPr>
              <p:cNvPr id="26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31" y="1486059"/>
                <a:ext cx="2652337" cy="407035"/>
              </a:xfrm>
              <a:prstGeom prst="rect">
                <a:avLst/>
              </a:prstGeom>
              <a:blipFill>
                <a:blip r:embed="rId8"/>
                <a:stretch>
                  <a:fillRect b="-909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21"/>
          <p:cNvSpPr/>
          <p:nvPr/>
        </p:nvSpPr>
        <p:spPr>
          <a:xfrm>
            <a:off x="6226950" y="2007394"/>
            <a:ext cx="2166928" cy="123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根据预测不确定性 u_i 动态生成样本权重。引入可学习温度参数 τ 和缩放因子 s，使训练重心转向</a:t>
            </a:r>
            <a:r>
              <a:rPr lang="en-US" sz="1100" dirty="0">
                <a:solidFill>
                  <a:srgbClr val="319795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易混淆的困难样本</a:t>
            </a:r>
            <a:r>
              <a:rPr lang="en-US" sz="120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，优化决策边界。</a:t>
            </a:r>
            <a:endParaRPr lang="en-US"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0E1EE7E-74EB-702F-A191-A52023C68F2F}"/>
              </a:ext>
            </a:extLst>
          </p:cNvPr>
          <p:cNvSpPr/>
          <p:nvPr/>
        </p:nvSpPr>
        <p:spPr>
          <a:xfrm>
            <a:off x="342900" y="413825"/>
            <a:ext cx="367088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数据集解释：Oxford-IIIT Pets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6046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187648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数据集概况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571500" y="1650206"/>
            <a:ext cx="1821656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14375" y="1878806"/>
            <a:ext cx="1535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4375" y="2257425"/>
            <a:ext cx="1535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细粒度类别 (猫/狗)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536031" y="1650206"/>
            <a:ext cx="1821656" cy="857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78906" y="1878806"/>
            <a:ext cx="15359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979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7,390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2678906" y="2257425"/>
            <a:ext cx="15359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总图像数量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93206"/>
            <a:ext cx="128588" cy="1571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244" y="2793206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视觉多样性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7244" y="3059646"/>
            <a:ext cx="328936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包含丰富的姿态变化、光照差异、背景干扰以及不同程度的遮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07244" y="3265363"/>
            <a:ext cx="2436564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挡，是评估细粒度分类鲁棒性的基准数据集。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24672"/>
            <a:ext cx="128588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244" y="3624672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标注质量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807244" y="3891111"/>
            <a:ext cx="3289362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提供高质量的品种标签及边界框标注，确保了监督学习与评估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7244" y="4096829"/>
            <a:ext cx="609141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的准确性。</a:t>
            </a: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226046"/>
            <a:ext cx="1714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64919" y="1187648"/>
            <a:ext cx="1516261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Few-Shot 划分策略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650206"/>
            <a:ext cx="128588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2056" y="1650206"/>
            <a:ext cx="46166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采样逻辑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5022055" y="1882887"/>
            <a:ext cx="3550185" cy="54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遵循少样本学习设定，从每个类别中随机抽取固定数量的</a:t>
            </a:r>
            <a:r>
              <a:rPr lang="en-US" altLang="zh-CN" sz="95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样本作为训练集，其余作为测试集。Few-Shot划分参考CoCoOp</a:t>
            </a:r>
            <a:r>
              <a:rPr lang="zh-CN" altLang="en-US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配置。</a:t>
            </a:r>
            <a:endParaRPr lang="en-US" altLang="zh-CN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022056" y="2122363"/>
            <a:ext cx="65" cy="172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481672"/>
            <a:ext cx="128588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22056" y="2481672"/>
            <a:ext cx="3550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 Shot 设置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5022056" y="2748111"/>
            <a:ext cx="3471732" cy="54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分别在以下五种数据规模下进行独立实验，验证模型在极低数</a:t>
            </a:r>
            <a:r>
              <a:rPr lang="en-US" altLang="zh-CN" sz="950" dirty="0" err="1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据量下的泛化能力</a:t>
            </a:r>
            <a:r>
              <a:rPr lang="en-US" altLang="zh-CN" sz="950" dirty="0">
                <a:solidFill>
                  <a:srgbClr val="4A5568"/>
                </a:solidFill>
                <a:latin typeface="SimSun" panose="02010600030101010101" pitchFamily="2" charset="-122"/>
                <a:ea typeface="SimSun" panose="02010600030101010101" pitchFamily="2" charset="-122"/>
                <a:cs typeface="Inter" pitchFamily="34" charset="-120"/>
              </a:rPr>
              <a:t>：</a:t>
            </a:r>
            <a:endParaRPr lang="en-US" altLang="zh-CN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l">
              <a:lnSpc>
                <a:spcPct val="128000"/>
              </a:lnSpc>
              <a:buNone/>
            </a:pPr>
            <a:endParaRPr lang="en-US" sz="95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5022056" y="2953829"/>
            <a:ext cx="65" cy="1724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786313" y="3313137"/>
            <a:ext cx="617934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4786313" y="3313137"/>
            <a:ext cx="617934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1-Shot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5497116" y="3313137"/>
            <a:ext cx="644723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497116" y="3313137"/>
            <a:ext cx="644723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2-Shot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6234708" y="3313137"/>
            <a:ext cx="650081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234708" y="3313137"/>
            <a:ext cx="650081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4-Shot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6977658" y="3313137"/>
            <a:ext cx="646509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977658" y="3313137"/>
            <a:ext cx="646509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8-Shot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717036" y="3313137"/>
            <a:ext cx="698302" cy="312539"/>
          </a:xfrm>
          <a:prstGeom prst="rect">
            <a:avLst/>
          </a:prstGeom>
          <a:solidFill>
            <a:srgbClr val="E6FFFA"/>
          </a:solidFill>
          <a:ln w="9144">
            <a:solidFill>
              <a:srgbClr val="319795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717036" y="3313137"/>
            <a:ext cx="698302" cy="312539"/>
          </a:xfrm>
          <a:prstGeom prst="rect">
            <a:avLst/>
          </a:prstGeom>
          <a:noFill/>
          <a:ln/>
        </p:spPr>
        <p:txBody>
          <a:bodyPr wrap="none" lIns="127508" tIns="85090" rIns="127508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16-Shot</a:t>
            </a:r>
            <a:endParaRPr lang="en-US" sz="900" dirty="0"/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64398042-477A-E9CE-8AE1-484A40982077}"/>
              </a:ext>
            </a:extLst>
          </p:cNvPr>
          <p:cNvSpPr/>
          <p:nvPr/>
        </p:nvSpPr>
        <p:spPr>
          <a:xfrm>
            <a:off x="342900" y="413825"/>
            <a:ext cx="355867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实验设置与配置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2474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109" y="1187648"/>
            <a:ext cx="6286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基础配置</a:t>
            </a:r>
            <a:endParaRPr lang="en-US" sz="11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28775"/>
            <a:ext cx="128588" cy="157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244" y="1628775"/>
            <a:ext cx="46166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 err="1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实验环境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07244" y="1895215"/>
            <a:ext cx="2600071" cy="359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NVIDIA </a:t>
            </a: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4090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下进行训练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</a:t>
            </a: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3.8.2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endParaRPr lang="en-US" altLang="zh-CN" sz="950" dirty="0">
              <a:solidFill>
                <a:srgbClr val="4A556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</a:rPr>
              <a:t>torch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</a:rPr>
              <a:t>版本</a:t>
            </a: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</a:rPr>
              <a:t>2.4.1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31678"/>
            <a:ext cx="128588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7244" y="2531678"/>
            <a:ext cx="279320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核心超参数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07244" y="2798118"/>
            <a:ext cx="2600071" cy="35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学习率 0.002，SGD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优化器，配合带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Warmup的余弦退火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</a:t>
            </a:r>
            <a:r>
              <a:rPr lang="en-US" altLang="zh-CN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fp16</a:t>
            </a:r>
            <a:r>
              <a:rPr lang="zh-CN" alt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混合精度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34581"/>
            <a:ext cx="160734" cy="1571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9391" y="3434581"/>
            <a:ext cx="276105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模型骨干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839391" y="3701021"/>
            <a:ext cx="26199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CLIP RN50，训练时冻结视觉与文本编码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839391" y="3906738"/>
            <a:ext cx="1543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器，仅优化提示学习模块。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9075" y="1222474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93394" y="1187648"/>
            <a:ext cx="1100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自适应训练策略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029075" y="1628775"/>
            <a:ext cx="4543425" cy="2008789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243388" y="1843088"/>
            <a:ext cx="4114800" cy="43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针对少样本学习中易出现的过拟合问题，本文设计了</a:t>
            </a:r>
            <a:r>
              <a:rPr lang="en-US" sz="85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 Shot 数变化的自适应训练轮数策略</a:t>
            </a: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4243388" y="2423127"/>
            <a:ext cx="1141214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3" name="Text 15"/>
          <p:cNvSpPr/>
          <p:nvPr/>
        </p:nvSpPr>
        <p:spPr>
          <a:xfrm>
            <a:off x="4243388" y="2423127"/>
            <a:ext cx="954813" cy="19364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1-Shot: </a:t>
            </a:r>
            <a:r>
              <a:rPr lang="en-US" altLang="zh-CN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 Epochs</a:t>
            </a:r>
            <a:endParaRPr lang="en-US" sz="700" dirty="0"/>
          </a:p>
        </p:txBody>
      </p:sp>
      <p:sp>
        <p:nvSpPr>
          <p:cNvPr id="24" name="Shape 16"/>
          <p:cNvSpPr/>
          <p:nvPr/>
        </p:nvSpPr>
        <p:spPr>
          <a:xfrm>
            <a:off x="5488186" y="2423127"/>
            <a:ext cx="1141214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5" name="Text 17"/>
          <p:cNvSpPr/>
          <p:nvPr/>
        </p:nvSpPr>
        <p:spPr>
          <a:xfrm>
            <a:off x="5488186" y="2423127"/>
            <a:ext cx="909929" cy="19364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2-Shot: </a:t>
            </a:r>
            <a:r>
              <a:rPr lang="en-US" altLang="zh-CN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Epochs</a:t>
            </a:r>
            <a:endParaRPr lang="en-US" sz="700" dirty="0"/>
          </a:p>
        </p:txBody>
      </p:sp>
      <p:sp>
        <p:nvSpPr>
          <p:cNvPr id="26" name="Shape 18"/>
          <p:cNvSpPr/>
          <p:nvPr/>
        </p:nvSpPr>
        <p:spPr>
          <a:xfrm>
            <a:off x="6732984" y="2423127"/>
            <a:ext cx="1144786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7" name="Text 19"/>
          <p:cNvSpPr/>
          <p:nvPr/>
        </p:nvSpPr>
        <p:spPr>
          <a:xfrm>
            <a:off x="6732984" y="2423127"/>
            <a:ext cx="909929" cy="19364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4-Shot: </a:t>
            </a:r>
            <a:r>
              <a:rPr lang="en-US" altLang="zh-CN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Epochs</a:t>
            </a:r>
            <a:endParaRPr lang="en-US" sz="700" dirty="0"/>
          </a:p>
        </p:txBody>
      </p:sp>
      <p:sp>
        <p:nvSpPr>
          <p:cNvPr id="28" name="Shape 20"/>
          <p:cNvSpPr/>
          <p:nvPr/>
        </p:nvSpPr>
        <p:spPr>
          <a:xfrm>
            <a:off x="4243388" y="2687445"/>
            <a:ext cx="1150144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29" name="Text 21"/>
          <p:cNvSpPr/>
          <p:nvPr/>
        </p:nvSpPr>
        <p:spPr>
          <a:xfrm>
            <a:off x="4243388" y="2687445"/>
            <a:ext cx="909929" cy="19364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8-Shot: </a:t>
            </a:r>
            <a:r>
              <a:rPr lang="en-US" altLang="zh-CN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Epochs</a:t>
            </a:r>
            <a:endParaRPr lang="en-US" sz="700" dirty="0"/>
          </a:p>
        </p:txBody>
      </p:sp>
      <p:sp>
        <p:nvSpPr>
          <p:cNvPr id="30" name="Shape 22"/>
          <p:cNvSpPr/>
          <p:nvPr/>
        </p:nvSpPr>
        <p:spPr>
          <a:xfrm>
            <a:off x="5497114" y="2687445"/>
            <a:ext cx="1139428" cy="192881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31" name="Text 23"/>
          <p:cNvSpPr/>
          <p:nvPr/>
        </p:nvSpPr>
        <p:spPr>
          <a:xfrm>
            <a:off x="5445323" y="2687445"/>
            <a:ext cx="954813" cy="193643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16-Shot: </a:t>
            </a:r>
            <a:r>
              <a:rPr lang="en-US" altLang="zh-CN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7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Epochs</a:t>
            </a:r>
            <a:endParaRPr lang="en-US" sz="7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F6D55197-56B0-57F3-0775-96DFCF668795}"/>
              </a:ext>
            </a:extLst>
          </p:cNvPr>
          <p:cNvSpPr/>
          <p:nvPr/>
        </p:nvSpPr>
        <p:spPr>
          <a:xfrm>
            <a:off x="342900" y="413825"/>
            <a:ext cx="355867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</a:rPr>
              <a:t>与CoOp</a:t>
            </a:r>
            <a:r>
              <a:rPr lang="zh-CN" alt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</a:rPr>
              <a:t>、</a:t>
            </a:r>
            <a:r>
              <a:rPr lang="en-US" altLang="zh-CN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</a:rPr>
              <a:t>CoCoOp</a:t>
            </a:r>
            <a:r>
              <a:rPr lang="zh-CN" alt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</a:rPr>
              <a:t>的实验对比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71500" y="3573989"/>
            <a:ext cx="458628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图：不同 Shot 设置下各方法的准确率对比 (%)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695" y="1735098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75008" y="1702951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整体性能领先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560695" y="1981557"/>
            <a:ext cx="30575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 2/4/8/16-Shot 设置下均优于 CoCoOp。16-Shot 达到全实验最高准确率 </a:t>
            </a:r>
            <a:r>
              <a:rPr lang="en-US" sz="8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89.8%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695" y="2593743"/>
            <a:ext cx="10715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39289" y="2561596"/>
            <a:ext cx="897682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少样本提升显著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560695" y="2840202"/>
            <a:ext cx="30575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 2-Shot 条件下提升幅度最大（</a:t>
            </a:r>
            <a:r>
              <a:rPr lang="en-US" sz="8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+2.4%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），证明了难度感知加权在极低样本下的有效性。</a:t>
            </a:r>
            <a:endParaRPr lang="en-US" sz="85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8C0ACD-2B86-CFB6-A74A-581C5FEE84C8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224" y="1442025"/>
            <a:ext cx="4942840" cy="20358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D9891C34-864E-7F22-0234-38AD0EB26412}"/>
              </a:ext>
            </a:extLst>
          </p:cNvPr>
          <p:cNvSpPr/>
          <p:nvPr/>
        </p:nvSpPr>
        <p:spPr>
          <a:xfrm>
            <a:off x="342900" y="413825"/>
            <a:ext cx="367088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与Zero</a:t>
            </a: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-shot CLIP </a:t>
            </a: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的实验对比</a:t>
            </a:r>
            <a:endParaRPr lang="en-US" sz="1600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A025950-505A-EE33-A567-998FCDBF44C6}"/>
              </a:ext>
            </a:extLst>
          </p:cNvPr>
          <p:cNvGrpSpPr/>
          <p:nvPr/>
        </p:nvGrpSpPr>
        <p:grpSpPr>
          <a:xfrm>
            <a:off x="4822983" y="729474"/>
            <a:ext cx="3101817" cy="2131017"/>
            <a:chOff x="571500" y="1187648"/>
            <a:chExt cx="3407569" cy="2284215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222474"/>
              <a:ext cx="117872" cy="157163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796528" y="1187648"/>
              <a:ext cx="705321" cy="1692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 err="1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置信度提升</a:t>
              </a:r>
              <a:endParaRPr lang="en-US" sz="1100" dirty="0"/>
            </a:p>
          </p:txBody>
        </p:sp>
        <p:sp>
          <p:nvSpPr>
            <p:cNvPr id="6" name="Shape 2"/>
            <p:cNvSpPr/>
            <p:nvPr/>
          </p:nvSpPr>
          <p:spPr>
            <a:xfrm>
              <a:off x="571500" y="1628775"/>
              <a:ext cx="3407569" cy="1285875"/>
            </a:xfrm>
            <a:prstGeom prst="rect">
              <a:avLst/>
            </a:prstGeom>
            <a:solidFill>
              <a:srgbClr val="FFFFFF"/>
            </a:solidFill>
            <a:ln w="9144">
              <a:solidFill>
                <a:srgbClr val="E2E8F0"/>
              </a:solidFill>
              <a:prstDash val="solid"/>
            </a:ln>
          </p:spPr>
        </p:sp>
        <p:sp>
          <p:nvSpPr>
            <p:cNvPr id="7" name="Text 3"/>
            <p:cNvSpPr/>
            <p:nvPr/>
          </p:nvSpPr>
          <p:spPr>
            <a:xfrm>
              <a:off x="785813" y="2020788"/>
              <a:ext cx="694101" cy="377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450" b="1" dirty="0">
                  <a:solidFill>
                    <a:srgbClr val="319795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0.75</a:t>
              </a:r>
              <a:r>
                <a:rPr lang="en-US" altLang="zh-CN" sz="2450" b="1" dirty="0">
                  <a:solidFill>
                    <a:srgbClr val="319795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1</a:t>
              </a:r>
              <a:endParaRPr lang="en-US" sz="2450" dirty="0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5942" y="2185095"/>
              <a:ext cx="150019" cy="171450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1841302" y="2020788"/>
              <a:ext cx="759823" cy="377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2450" b="1" dirty="0">
                  <a:solidFill>
                    <a:srgbClr val="319795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0.8</a:t>
              </a:r>
              <a:r>
                <a:rPr lang="en-US" altLang="zh-CN" sz="2450" b="1" dirty="0">
                  <a:solidFill>
                    <a:srgbClr val="319795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16</a:t>
              </a:r>
              <a:endParaRPr lang="en-US" sz="245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785813" y="2549426"/>
              <a:ext cx="2978944" cy="1875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2D374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平均预测置信度 (Confidence Score)</a:t>
              </a:r>
              <a:endParaRPr lang="en-US" sz="90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571500" y="3128963"/>
              <a:ext cx="3407569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800" dirty="0">
                  <a:solidFill>
                    <a:srgbClr val="71809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* 相比原始 Zero-shot CLIP，本文方法通过动态提示词优化，显著增强了模型对细粒度类别的判别确定性。</a:t>
              </a:r>
              <a:endParaRPr lang="en-US" sz="8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4548A72-AC37-A58B-567B-14E755E419FD}"/>
              </a:ext>
            </a:extLst>
          </p:cNvPr>
          <p:cNvGrpSpPr/>
          <p:nvPr/>
        </p:nvGrpSpPr>
        <p:grpSpPr>
          <a:xfrm>
            <a:off x="4822983" y="2895335"/>
            <a:ext cx="3657942" cy="1924925"/>
            <a:chOff x="4407694" y="1187648"/>
            <a:chExt cx="4164806" cy="2071297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07694" y="1222474"/>
              <a:ext cx="157163" cy="157163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4672013" y="1187648"/>
              <a:ext cx="1257300" cy="2268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31979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预测分布优化效果</a:t>
              </a:r>
              <a:endParaRPr lang="en-US" sz="1100" dirty="0"/>
            </a:p>
          </p:txBody>
        </p:sp>
        <p:sp>
          <p:nvSpPr>
            <p:cNvPr id="14" name="Shape 8"/>
            <p:cNvSpPr/>
            <p:nvPr/>
          </p:nvSpPr>
          <p:spPr>
            <a:xfrm>
              <a:off x="4407694" y="1628775"/>
              <a:ext cx="4164806" cy="1630170"/>
            </a:xfrm>
            <a:prstGeom prst="rect">
              <a:avLst/>
            </a:prstGeom>
            <a:solidFill>
              <a:srgbClr val="E6FFFA"/>
            </a:solidFill>
            <a:ln/>
          </p:spPr>
        </p:sp>
        <p:sp>
          <p:nvSpPr>
            <p:cNvPr id="15" name="Shape 9"/>
            <p:cNvSpPr/>
            <p:nvPr/>
          </p:nvSpPr>
          <p:spPr>
            <a:xfrm>
              <a:off x="4407694" y="1628775"/>
              <a:ext cx="28575" cy="1630170"/>
            </a:xfrm>
            <a:prstGeom prst="rect">
              <a:avLst/>
            </a:prstGeom>
            <a:solidFill>
              <a:srgbClr val="319795"/>
            </a:solidFill>
            <a:ln/>
          </p:spPr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6288" y="1807369"/>
              <a:ext cx="114300" cy="142875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4807744" y="1807369"/>
              <a:ext cx="3586163" cy="3886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850" b="1" dirty="0">
                  <a:solidFill>
                    <a:srgbClr val="2D374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分布趋向高置信区间</a:t>
              </a:r>
              <a:r>
                <a:rPr lang="en-US" sz="90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：预测概率分布更加集中，有效减少了在易混淆类别间的“摇摆”现象。</a:t>
              </a:r>
              <a:endParaRPr lang="en-US" sz="900" dirty="0"/>
            </a:p>
          </p:txBody>
        </p:sp>
        <p:pic>
          <p:nvPicPr>
            <p:cNvPr id="18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86288" y="2338853"/>
              <a:ext cx="114300" cy="142875"/>
            </a:xfrm>
            <a:prstGeom prst="rect">
              <a:avLst/>
            </a:prstGeom>
          </p:spPr>
        </p:pic>
        <p:sp>
          <p:nvSpPr>
            <p:cNvPr id="19" name="Text 11"/>
            <p:cNvSpPr/>
            <p:nvPr/>
          </p:nvSpPr>
          <p:spPr>
            <a:xfrm>
              <a:off x="4807744" y="2338853"/>
              <a:ext cx="3586163" cy="3886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850" b="1" dirty="0">
                  <a:solidFill>
                    <a:srgbClr val="2D374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判别边界清晰化</a:t>
              </a:r>
              <a:r>
                <a:rPr lang="en-US" sz="90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：难度感知加权机制强化了对边界样本的学习，使得模型在特征空间中的决策边界更加稳健。</a:t>
              </a:r>
              <a:endParaRPr lang="en-US" sz="900" dirty="0"/>
            </a:p>
          </p:txBody>
        </p:sp>
        <p:pic>
          <p:nvPicPr>
            <p:cNvPr id="20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86288" y="2870336"/>
              <a:ext cx="114300" cy="142875"/>
            </a:xfrm>
            <a:prstGeom prst="rect">
              <a:avLst/>
            </a:prstGeom>
          </p:spPr>
        </p:pic>
        <p:sp>
          <p:nvSpPr>
            <p:cNvPr id="21" name="Text 12"/>
            <p:cNvSpPr/>
            <p:nvPr/>
          </p:nvSpPr>
          <p:spPr>
            <a:xfrm>
              <a:off x="4807744" y="2870336"/>
              <a:ext cx="3586163" cy="3886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ct val="128000"/>
                </a:lnSpc>
                <a:buNone/>
              </a:pPr>
              <a:r>
                <a:rPr lang="en-US" sz="850" b="1" dirty="0">
                  <a:solidFill>
                    <a:srgbClr val="2D374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鲁棒性增强</a:t>
              </a:r>
              <a:r>
                <a:rPr lang="en-US" sz="900" dirty="0">
                  <a:solidFill>
                    <a:srgbClr val="4A556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：高置信度的预测通常伴随着更强的抗干扰能力，为后续的 TTC 防御提供了更稳定的基础。</a:t>
              </a:r>
              <a:endParaRPr lang="en-US" sz="900" dirty="0"/>
            </a:p>
          </p:txBody>
        </p:sp>
      </p:grpSp>
      <p:sp>
        <p:nvSpPr>
          <p:cNvPr id="22" name="Text 1">
            <a:extLst>
              <a:ext uri="{FF2B5EF4-FFF2-40B4-BE49-F238E27FC236}">
                <a16:creationId xmlns:a16="http://schemas.microsoft.com/office/drawing/2014/main" id="{44A2D1BF-D6EB-A3BE-8F85-CDC3F648307F}"/>
              </a:ext>
            </a:extLst>
          </p:cNvPr>
          <p:cNvSpPr/>
          <p:nvPr/>
        </p:nvSpPr>
        <p:spPr>
          <a:xfrm>
            <a:off x="342900" y="413825"/>
            <a:ext cx="367088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45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FC72869-2CA5-12AC-9CC2-437F6D6327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4" y="1437372"/>
            <a:ext cx="4601319" cy="220488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ECCA939-C0B0-D6D0-D33D-553A23685403}"/>
              </a:ext>
            </a:extLst>
          </p:cNvPr>
          <p:cNvSpPr/>
          <p:nvPr/>
        </p:nvSpPr>
        <p:spPr>
          <a:xfrm>
            <a:off x="229179" y="3633968"/>
            <a:ext cx="45862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图：Zero-Shot</a:t>
            </a:r>
            <a:r>
              <a:rPr lang="zh-CN" alt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zh-CN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</a:t>
            </a:r>
            <a:r>
              <a:rPr lang="zh-CN" altLang="en-US" sz="75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与动态提示词模型的预测置信度分布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24622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安全验证结果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79599"/>
            <a:ext cx="15716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4388" y="1044773"/>
            <a:ext cx="13001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防御效果验证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450181"/>
            <a:ext cx="1354801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7" name="Text 3"/>
          <p:cNvSpPr/>
          <p:nvPr/>
        </p:nvSpPr>
        <p:spPr>
          <a:xfrm>
            <a:off x="571500" y="1450181"/>
            <a:ext cx="1354801" cy="2714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测试场景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926301" y="1450181"/>
            <a:ext cx="927627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9" name="Text 5"/>
          <p:cNvSpPr/>
          <p:nvPr/>
        </p:nvSpPr>
        <p:spPr>
          <a:xfrm>
            <a:off x="1926301" y="1459980"/>
            <a:ext cx="436530" cy="251864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原始值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853928" y="1450181"/>
            <a:ext cx="1503759" cy="271463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1" name="Text 7"/>
          <p:cNvSpPr/>
          <p:nvPr/>
        </p:nvSpPr>
        <p:spPr>
          <a:xfrm>
            <a:off x="2853928" y="1450181"/>
            <a:ext cx="1503759" cy="271463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TTC 防御后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71500" y="1721644"/>
            <a:ext cx="1354801" cy="275034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干净样本 (Clean)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926301" y="1721644"/>
            <a:ext cx="927627" cy="275034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85.85%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853928" y="1721644"/>
            <a:ext cx="1503759" cy="275034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68.06%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71500" y="1996678"/>
            <a:ext cx="1354801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PGD 对抗攻击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926301" y="1996678"/>
            <a:ext cx="927627" cy="278606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0.08%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853928" y="1996678"/>
            <a:ext cx="1503759" cy="27860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18" name="Shape 14"/>
          <p:cNvSpPr/>
          <p:nvPr/>
        </p:nvSpPr>
        <p:spPr>
          <a:xfrm>
            <a:off x="2853928" y="2268141"/>
            <a:ext cx="150375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2853928" y="1996678"/>
            <a:ext cx="1503759" cy="278606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71.63% (↑71.55%)</a:t>
            </a:r>
            <a:endParaRPr lang="en-US" sz="8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0A1CE74-DDD4-2DC4-3860-3D6F47EDBB7F}"/>
              </a:ext>
            </a:extLst>
          </p:cNvPr>
          <p:cNvSpPr/>
          <p:nvPr/>
        </p:nvSpPr>
        <p:spPr>
          <a:xfrm>
            <a:off x="342900" y="413825"/>
            <a:ext cx="346249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245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71CCC293-3ADC-B0D2-0A5E-3EC8402EE649}"/>
              </a:ext>
            </a:extLst>
          </p:cNvPr>
          <p:cNvSpPr/>
          <p:nvPr/>
        </p:nvSpPr>
        <p:spPr>
          <a:xfrm>
            <a:off x="571500" y="2279451"/>
            <a:ext cx="1354801" cy="25955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B90DBB5A-42CA-8CEA-67F2-33C2839F2EAC}"/>
              </a:ext>
            </a:extLst>
          </p:cNvPr>
          <p:cNvSpPr/>
          <p:nvPr/>
        </p:nvSpPr>
        <p:spPr>
          <a:xfrm>
            <a:off x="1926301" y="2279451"/>
            <a:ext cx="428515" cy="259558"/>
          </a:xfrm>
          <a:prstGeom prst="rect">
            <a:avLst/>
          </a:prstGeom>
          <a:noFill/>
          <a:ln/>
        </p:spPr>
        <p:txBody>
          <a:bodyPr wrap="non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altLang="zh-CN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</a:rPr>
              <a:t>0.9453</a:t>
            </a:r>
            <a:endParaRPr lang="en-US" sz="85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91607A8-11B0-E9C1-2B46-65B5B5F5F5CB}"/>
              </a:ext>
            </a:extLst>
          </p:cNvPr>
          <p:cNvSpPr/>
          <p:nvPr/>
        </p:nvSpPr>
        <p:spPr>
          <a:xfrm>
            <a:off x="2853928" y="2279451"/>
            <a:ext cx="1503759" cy="25955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</a:rPr>
              <a:t>1.0470</a:t>
            </a:r>
            <a:endParaRPr lang="en-US" sz="8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 8">
                <a:extLst>
                  <a:ext uri="{FF2B5EF4-FFF2-40B4-BE49-F238E27FC236}">
                    <a16:creationId xmlns:a16="http://schemas.microsoft.com/office/drawing/2014/main" id="{8F6C8A3D-5766-DF8E-DAB5-860F8A780AE6}"/>
                  </a:ext>
                </a:extLst>
              </p:cNvPr>
              <p:cNvSpPr/>
              <p:nvPr/>
            </p:nvSpPr>
            <p:spPr>
              <a:xfrm>
                <a:off x="571499" y="2267865"/>
                <a:ext cx="1354801" cy="267253"/>
              </a:xfrm>
              <a:prstGeom prst="rect">
                <a:avLst/>
              </a:prstGeom>
              <a:noFill/>
              <a:ln/>
            </p:spPr>
            <p:txBody>
              <a:bodyPr wrap="square" lIns="127508" tIns="127508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9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lang="en-US" sz="850" dirty="0"/>
              </a:p>
            </p:txBody>
          </p:sp>
        </mc:Choice>
        <mc:Fallback>
          <p:sp>
            <p:nvSpPr>
              <p:cNvPr id="40" name="Text 8">
                <a:extLst>
                  <a:ext uri="{FF2B5EF4-FFF2-40B4-BE49-F238E27FC236}">
                    <a16:creationId xmlns:a16="http://schemas.microsoft.com/office/drawing/2014/main" id="{8F6C8A3D-5766-DF8E-DAB5-860F8A780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" y="2267865"/>
                <a:ext cx="1354801" cy="2672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Image 2" descr="preencoded.png">
            <a:extLst>
              <a:ext uri="{FF2B5EF4-FFF2-40B4-BE49-F238E27FC236}">
                <a16:creationId xmlns:a16="http://schemas.microsoft.com/office/drawing/2014/main" id="{554704BA-2775-AA6F-0288-7DBCDF587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195" y="1650206"/>
            <a:ext cx="142875" cy="142875"/>
          </a:xfrm>
          <a:prstGeom prst="rect">
            <a:avLst/>
          </a:prstGeom>
        </p:spPr>
      </p:pic>
      <p:sp>
        <p:nvSpPr>
          <p:cNvPr id="42" name="Text 3">
            <a:extLst>
              <a:ext uri="{FF2B5EF4-FFF2-40B4-BE49-F238E27FC236}">
                <a16:creationId xmlns:a16="http://schemas.microsoft.com/office/drawing/2014/main" id="{4A31C54B-2735-710D-71A3-E072CAB19823}"/>
              </a:ext>
            </a:extLst>
          </p:cNvPr>
          <p:cNvSpPr/>
          <p:nvPr/>
        </p:nvSpPr>
        <p:spPr>
          <a:xfrm>
            <a:off x="5203508" y="1618059"/>
            <a:ext cx="1410643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319795"/>
                </a:solidFill>
                <a:latin typeface="Inter" pitchFamily="34" charset="0"/>
                <a:ea typeface="Inter" pitchFamily="34" charset="-122"/>
              </a:rPr>
              <a:t>模型鲁棒性与安全性提升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 4">
                <a:extLst>
                  <a:ext uri="{FF2B5EF4-FFF2-40B4-BE49-F238E27FC236}">
                    <a16:creationId xmlns:a16="http://schemas.microsoft.com/office/drawing/2014/main" id="{EDEA4A62-1F06-63C3-C900-335109453B31}"/>
                  </a:ext>
                </a:extLst>
              </p:cNvPr>
              <p:cNvSpPr/>
              <p:nvPr/>
            </p:nvSpPr>
            <p:spPr>
              <a:xfrm>
                <a:off x="4989195" y="1896665"/>
                <a:ext cx="3057525" cy="4788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28000"/>
                  </a:lnSpc>
                </a:pPr>
                <a:r>
                  <a:rPr lang="en-US" sz="850" dirty="0" err="1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PGD攻击后</a:t>
                </a:r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，模型准确率几乎将为</a:t>
                </a:r>
                <a:r>
                  <a:rPr lang="en-US" altLang="zh-CN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0</a:t>
                </a:r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，加入</a:t>
                </a:r>
                <a:r>
                  <a:rPr lang="en-US" altLang="zh-CN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TTC</a:t>
                </a:r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后，对抗样本准确率恢复到</a:t>
                </a:r>
                <a:r>
                  <a:rPr lang="en-US" altLang="zh-CN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71.63%</a:t>
                </a:r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，说明</a:t>
                </a:r>
                <a:r>
                  <a:rPr lang="en-US" altLang="zh-CN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TTC</a:t>
                </a:r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在本文模型上是有效的。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zh-CN" altLang="en-US" sz="850" dirty="0">
                    <a:solidFill>
                      <a:srgbClr val="4A5568"/>
                    </a:solidFill>
                    <a:latin typeface="SimSun" panose="02010600030101010101" pitchFamily="2" charset="-122"/>
                    <a:ea typeface="SimSun" panose="02010600030101010101" pitchFamily="2" charset="-122"/>
                  </a:rPr>
                  <a:t>的变化也说明模型不是盲目添加扰动，而是利用了特征变化信号。</a:t>
                </a:r>
                <a:endParaRPr lang="en-US" altLang="zh-CN" sz="850" dirty="0">
                  <a:solidFill>
                    <a:srgbClr val="4A5568"/>
                  </a:solidFill>
                  <a:latin typeface="SimSun" panose="02010600030101010101" pitchFamily="2" charset="-122"/>
                  <a:ea typeface="SimSun" panose="02010600030101010101" pitchFamily="2" charset="-122"/>
                </a:endParaRPr>
              </a:p>
            </p:txBody>
          </p:sp>
        </mc:Choice>
        <mc:Fallback>
          <p:sp>
            <p:nvSpPr>
              <p:cNvPr id="43" name="Text 4">
                <a:extLst>
                  <a:ext uri="{FF2B5EF4-FFF2-40B4-BE49-F238E27FC236}">
                    <a16:creationId xmlns:a16="http://schemas.microsoft.com/office/drawing/2014/main" id="{EDEA4A62-1F06-63C3-C900-335109453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195" y="1896665"/>
                <a:ext cx="3057525" cy="478849"/>
              </a:xfrm>
              <a:prstGeom prst="rect">
                <a:avLst/>
              </a:prstGeom>
              <a:blipFill>
                <a:blip r:embed="rId6"/>
                <a:stretch>
                  <a:fillRect l="-2066" t="-5128" r="-826" b="-1025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可视化演示：Streamlit 界面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2474"/>
            <a:ext cx="176808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5464" y="1187648"/>
            <a:ext cx="942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系统功能模块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571500" y="1628775"/>
            <a:ext cx="357188" cy="357188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735931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1628775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交互式图像上传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71563" y="1873448"/>
            <a:ext cx="4318620" cy="15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用户通过拖拽或文件选择器上传本地宠物图像，系统通过加载模型文件返回结果并显示</a:t>
            </a: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571500" y="2668192"/>
            <a:ext cx="357188" cy="357188"/>
          </a:xfrm>
          <a:prstGeom prst="rect">
            <a:avLst/>
          </a:prstGeom>
          <a:solidFill>
            <a:srgbClr val="E6FFFA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775348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1563" y="2668192"/>
            <a:ext cx="40433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多方法结果对比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1071563" y="2912866"/>
            <a:ext cx="404336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直观展示本文方法与原始 CLIP 的预测差异，通过可视化反馈增强研究的可解释性。</a:t>
            </a:r>
            <a:endParaRPr lang="en-US" sz="85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86C86A6F-32A5-8B44-8CE2-0E07B446FEA1}"/>
              </a:ext>
            </a:extLst>
          </p:cNvPr>
          <p:cNvSpPr/>
          <p:nvPr/>
        </p:nvSpPr>
        <p:spPr>
          <a:xfrm>
            <a:off x="342900" y="413825"/>
            <a:ext cx="346249" cy="306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</a:t>
            </a:r>
            <a:endParaRPr lang="en-US" sz="245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2CF8236-1B16-F598-FF9A-456413BA2CF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1" y="759023"/>
            <a:ext cx="3789641" cy="2835146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7AA9CBF4-B2E2-DFD5-B8D0-6ED675613988}"/>
              </a:ext>
            </a:extLst>
          </p:cNvPr>
          <p:cNvSpPr/>
          <p:nvPr/>
        </p:nvSpPr>
        <p:spPr>
          <a:xfrm>
            <a:off x="5114926" y="3651319"/>
            <a:ext cx="4586288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图：可视化界面中动态提示词模型与原始CLIP模型的对比结果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428625"/>
            <a:ext cx="8572500" cy="33039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总结与展望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83171"/>
            <a:ext cx="128588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1044773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全文总结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35806" y="147161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方法创新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：实现了动态提示词训练器，通过图像条件偏移与类别自适应因子提升了细粒度特征表达。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35806" y="202592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性能突破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：引入难度权重计算器，在 16-Shot 下达到 89.8% 准确率，显著优于 CoOp 与 CoCoOp。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35806" y="258023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安全增强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：桥接 TTC 防御机制，有效提升了模型在对抗攻击场景下的鲁棒性。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08317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2056" y="1044773"/>
            <a:ext cx="8572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不足与展望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50619" y="147161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泛化验证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：目前仅在单一数据集验证，未来将探索在鸟类、车型等更多细粒度任务上的迁移能力。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950619" y="202592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防御优化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：当前安全防御对干净样本精度有一定副作用，需进一步探索鲁棒性与精度的平衡点。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950619" y="2580233"/>
            <a:ext cx="36218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模型架构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：后续将尝试 ViT 等更强的主干网络，并探索多模态提示协同优化。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0" y="3939778"/>
            <a:ext cx="9144000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24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BEBD6FA7-B5A9-E76E-46AC-1E5CCABB9957}"/>
              </a:ext>
            </a:extLst>
          </p:cNvPr>
          <p:cNvSpPr/>
          <p:nvPr/>
        </p:nvSpPr>
        <p:spPr>
          <a:xfrm>
            <a:off x="342900" y="413825"/>
            <a:ext cx="378309" cy="306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</a:t>
            </a:r>
            <a:r>
              <a:rPr lang="en-US" altLang="zh-CN" sz="2450" b="1" dirty="0">
                <a:solidFill>
                  <a:srgbClr val="319795">
                    <a:alpha val="30000"/>
                  </a:srgb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</a:t>
            </a:r>
            <a:endParaRPr lang="en-US" sz="2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6341DB1-6CBC-F551-4F19-969D0A156337}"/>
              </a:ext>
            </a:extLst>
          </p:cNvPr>
          <p:cNvSpPr txBox="1"/>
          <p:nvPr/>
        </p:nvSpPr>
        <p:spPr>
          <a:xfrm>
            <a:off x="2286000" y="1715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2800" b="1" dirty="0" err="1">
                <a:solidFill>
                  <a:srgbClr val="2D3748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感谢各位老师的聆听与指导</a:t>
            </a:r>
            <a:endParaRPr lang="en-US" altLang="zh-CN" sz="2800"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F80759EE-EA65-C9EE-59CE-EFDDBFA2B603}"/>
              </a:ext>
            </a:extLst>
          </p:cNvPr>
          <p:cNvSpPr/>
          <p:nvPr/>
        </p:nvSpPr>
        <p:spPr>
          <a:xfrm>
            <a:off x="0" y="2364581"/>
            <a:ext cx="9144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请各位专家批评指正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7231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712</Words>
  <Application>Microsoft Macintosh PowerPoint</Application>
  <PresentationFormat>全屏显示(16:9)</PresentationFormat>
  <Paragraphs>196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SimSun</vt:lpstr>
      <vt:lpstr>Inter</vt:lpstr>
      <vt:lpstr>Playfair Display Bold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du</cp:lastModifiedBy>
  <cp:revision>3</cp:revision>
  <dcterms:created xsi:type="dcterms:W3CDTF">2026-05-11T08:34:58Z</dcterms:created>
  <dcterms:modified xsi:type="dcterms:W3CDTF">2026-05-12T15:24:36Z</dcterms:modified>
</cp:coreProperties>
</file>